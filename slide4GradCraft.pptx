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59" r:id="rId6"/>
    <p:sldId id="263" r:id="rId7"/>
    <p:sldId id="269" r:id="rId8"/>
    <p:sldId id="265" r:id="rId9"/>
    <p:sldId id="264" r:id="rId10"/>
    <p:sldId id="260" r:id="rId11"/>
    <p:sldId id="266" r:id="rId12"/>
    <p:sldId id="267" r:id="rId13"/>
    <p:sldId id="268" r:id="rId14"/>
    <p:sldId id="261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2"/>
    <p:restoredTop sz="90613"/>
  </p:normalViewPr>
  <p:slideViewPr>
    <p:cSldViewPr snapToGrid="0">
      <p:cViewPr varScale="1">
        <p:scale>
          <a:sx n="118" d="100"/>
          <a:sy n="118" d="100"/>
        </p:scale>
        <p:origin x="1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B3FC0-9320-354C-883A-545AB6B54CB9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38545-0422-F14B-8860-F4EBB1684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842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Hello everyone,</a:t>
            </a:r>
            <a:r>
              <a:rPr lang="zh-CN" altLang="en-US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I am baiyimeng from University of Science and Technology of China.</a:t>
            </a: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I am delighted to introduce our work here. </a:t>
            </a: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The title of our presentation is "</a:t>
            </a:r>
            <a:r>
              <a:rPr lang="en-US" altLang="zh-CN" b="0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GradCraft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: Elevating Multi-task Recommendations through Holistic Gradient Crafting."</a:t>
            </a: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This research was done when I was interning at Kuaishou.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4645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Next, I will present the background, methodology /metho </a:t>
            </a:r>
            <a:r>
              <a:rPr lang="en-US" altLang="zh-CN" b="0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daology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/, experiment, and conclusion of our research.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1428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Let's begin with the background. </a:t>
            </a:r>
          </a:p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Multi-task recommendation involves a system that simultaneously models various user behaviors, such as liking, long viewing, following, and forwarding. </a:t>
            </a:r>
          </a:p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Multi-task learning is essential here because it allows us to optimize these tasks collectively, leveraging shared information to improve recommendations.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6714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A significant challenge in multi-task recommendations arises from the </a:t>
            </a:r>
            <a:r>
              <a:rPr kumimoji="1" lang="en-US" altLang="zh-CN" sz="1200" b="0" dirty="0">
                <a:latin typeface="Helvetica" pitchFamily="2" charset="0"/>
              </a:rPr>
              <a:t>Task Heterogeneity /He </a:t>
            </a:r>
            <a:r>
              <a:rPr kumimoji="1" lang="en-US" altLang="zh-CN" sz="1200" b="0" dirty="0" err="1">
                <a:latin typeface="Helvetica" pitchFamily="2" charset="0"/>
              </a:rPr>
              <a:t>te</a:t>
            </a:r>
            <a:r>
              <a:rPr kumimoji="1" lang="en-US" altLang="zh-CN" sz="1200" b="0" dirty="0">
                <a:latin typeface="Helvetica" pitchFamily="2" charset="0"/>
              </a:rPr>
              <a:t> </a:t>
            </a:r>
            <a:r>
              <a:rPr kumimoji="1" lang="en-US" altLang="zh-CN" sz="1200" b="0" dirty="0" err="1">
                <a:latin typeface="Helvetica" pitchFamily="2" charset="0"/>
              </a:rPr>
              <a:t>rou</a:t>
            </a:r>
            <a:r>
              <a:rPr kumimoji="1" lang="en-US" altLang="zh-CN" sz="1200" b="0" dirty="0">
                <a:latin typeface="Helvetica" pitchFamily="2" charset="0"/>
              </a:rPr>
              <a:t> gen </a:t>
            </a:r>
            <a:r>
              <a:rPr kumimoji="1" lang="en-US" altLang="zh-CN" sz="1200" b="0" dirty="0" err="1">
                <a:latin typeface="Helvetica" pitchFamily="2" charset="0"/>
              </a:rPr>
              <a:t>neity</a:t>
            </a:r>
            <a:r>
              <a:rPr kumimoji="1" lang="en-US" altLang="zh-CN" sz="1200" b="0" dirty="0">
                <a:latin typeface="Helvetica" pitchFamily="2" charset="0"/>
              </a:rPr>
              <a:t>/</a:t>
            </a:r>
            <a:r>
              <a:rPr kumimoji="1" lang="zh-CN" altLang="en-US" sz="1200" b="0" i="0" u="none" strike="noStrike" dirty="0">
                <a:solidFill>
                  <a:schemeClr val="tx1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and </a:t>
            </a:r>
            <a:r>
              <a:rPr kumimoji="1" lang="en-US" altLang="zh-CN" sz="1200" b="0" dirty="0">
                <a:latin typeface="Helvetica" pitchFamily="2" charset="0"/>
              </a:rPr>
              <a:t>Task Cardinality</a:t>
            </a:r>
            <a:r>
              <a:rPr kumimoji="1" lang="zh-CN" altLang="en-US" sz="1200" b="0" dirty="0">
                <a:latin typeface="Helvetica" pitchFamily="2" charset="0"/>
              </a:rPr>
              <a:t> </a:t>
            </a:r>
            <a:r>
              <a:rPr lang="en-US" altLang="zh-CN" b="0" i="0" u="none" strike="noStrike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en-US" altLang="zh-CN" b="0" i="0" u="none" strike="noStrike" dirty="0" err="1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>kɑdinalti</a:t>
            </a:r>
            <a:r>
              <a:rPr lang="en-US" altLang="zh-CN" b="0" i="0" u="none" strike="noStrike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, which can cause misaligned gradients.</a:t>
            </a:r>
          </a:p>
          <a:p>
            <a:pPr algn="l"/>
            <a:endParaRPr lang="en-US" altLang="zh-CN" b="0" i="0" u="none" strike="noStrike" dirty="0">
              <a:solidFill>
                <a:srgbClr val="FFFFFF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Firstly, </a:t>
            </a:r>
            <a:r>
              <a:rPr kumimoji="1" lang="en-US" altLang="zh-CN" sz="1200" b="0" i="0" u="none" strike="noStrike" dirty="0">
                <a:solidFill>
                  <a:srgbClr val="FFFFFF"/>
                </a:solidFill>
                <a:effectLst/>
                <a:latin typeface="Helvetica" pitchFamily="2" charset="0"/>
              </a:rPr>
              <a:t>t</a:t>
            </a:r>
            <a:r>
              <a:rPr kumimoji="1" lang="en-US" altLang="zh-CN" sz="1200" b="0" dirty="0">
                <a:latin typeface="Helvetica" pitchFamily="2" charset="0"/>
              </a:rPr>
              <a:t>ask heterogeneity  </a:t>
            </a:r>
            <a:r>
              <a:rPr kumimoji="1" lang="en-US" altLang="zh-CN" sz="1200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refers to the different characteristics of tasks. </a:t>
            </a:r>
          </a:p>
          <a:p>
            <a:pPr algn="l"/>
            <a:r>
              <a:rPr kumimoji="1" lang="en-US" altLang="zh-CN" sz="1200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For example, 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engagement behavior is sparser than viewing behavior, leading to differences in gradient magnitudes.</a:t>
            </a: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Consequently, tasks with larger gradient</a:t>
            </a:r>
            <a:r>
              <a:rPr lang="zh-CN" altLang="en-US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magnitudes tend to dominate the optimization process.</a:t>
            </a:r>
          </a:p>
          <a:p>
            <a:pPr algn="l"/>
            <a:endParaRPr lang="en-US" altLang="zh-CN" b="0" i="0" u="none" strike="noStrike" dirty="0">
              <a:solidFill>
                <a:srgbClr val="FFFFFF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Secondly, in practical settings, we usually have plenty of tasks to optimize, resulting in a rise in potential conflicting task pairs. </a:t>
            </a: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Here, conflict is defined by the inner product of gradient vectors being negative.</a:t>
            </a:r>
          </a:p>
          <a:p>
            <a:pPr algn="l"/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This would lead to the negative transfer or seesaw phenomenon.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6203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First, our approach addresses these challenges by focusing on adjusting the gradient magnitudes. 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Instead of aiming for perfect uniformity across all tasks, we concentrate on reducing significant differences in gradient norms, particularly those that could vary by several orders of magnitude. 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By doing this, we prevent any one task from dominating the others while still maintaining the unique characteristics of each task.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To achieve this, we adjust the gradient norm for each task by blending its original norm with the maximum norm. The extent of this adjustment is controlled by a parameter we call tau.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060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Next, we focus on gradient direction deconfliction, ensuring task gradients do not conflict with each other.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For instance, imagine we have three tasks—A, B, and C. 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Initially, the gradient of task C might conflict with those of A and B, as indicated by a negative inner product.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</a:p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Subsequently, we employ projections and retaining the orthogonal /</a:t>
            </a:r>
            <a:r>
              <a:rPr lang="en-US" altLang="zh-CN" b="0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aor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en-US" altLang="zh-CN" b="0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sao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r>
              <a:rPr lang="en-US" altLang="zh-CN" b="0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ge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no/ part of C, effectively making its inner product with A and B zero.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helps align the tasks, preventing conflicts in gradient directions.</a:t>
            </a:r>
            <a:endParaRPr lang="en-US" altLang="zh-CN" b="0" i="0" u="none" strike="noStrike" dirty="0">
              <a:solidFill>
                <a:srgbClr val="FFFFF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756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Our gradient projection method builds on the standard </a:t>
            </a:r>
            <a:r>
              <a:rPr lang="en-US" altLang="zh-CN" sz="2800" b="0" i="0" u="none" strike="noStrike" dirty="0" err="1">
                <a:solidFill>
                  <a:srgbClr val="000000"/>
                </a:solidFill>
                <a:effectLst/>
              </a:rPr>
              <a:t>PCGrad</a:t>
            </a:r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 approach but takes it a step further. </a:t>
            </a:r>
          </a:p>
          <a:p>
            <a:pPr algn="l"/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While </a:t>
            </a:r>
            <a:r>
              <a:rPr lang="en-US" altLang="zh-CN" sz="2800" b="0" i="0" u="none" strike="noStrike" dirty="0" err="1">
                <a:solidFill>
                  <a:srgbClr val="000000"/>
                </a:solidFill>
                <a:effectLst/>
              </a:rPr>
              <a:t>PCGrad</a:t>
            </a:r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 resolves conflicts between tasks one at a time, our method handles conflicts with all conflicting tasks simultaneously.</a:t>
            </a:r>
          </a:p>
          <a:p>
            <a:pPr algn="l"/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Put simply, </a:t>
            </a:r>
            <a:r>
              <a:rPr lang="en-US" altLang="zh-CN" sz="2800" b="0" i="0" u="none" strike="noStrike" dirty="0" err="1">
                <a:solidFill>
                  <a:srgbClr val="000000"/>
                </a:solidFill>
                <a:effectLst/>
              </a:rPr>
              <a:t>PCGrad</a:t>
            </a:r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 uses a one-vs-one strategy, while our method adopts a one-vs-all approach. When there are only two tasks, our method naturally simplifies to </a:t>
            </a:r>
            <a:r>
              <a:rPr lang="en-US" altLang="zh-CN" sz="2800" b="0" i="0" u="none" strike="noStrike" dirty="0" err="1">
                <a:solidFill>
                  <a:srgbClr val="000000"/>
                </a:solidFill>
                <a:effectLst/>
              </a:rPr>
              <a:t>PCGrad</a:t>
            </a:r>
            <a:r>
              <a:rPr lang="en-US" altLang="zh-CN" sz="28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6989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We formally define our global gradient projection method as follows: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For a given task ii, we start by stacking all conflicting gradients into a tensor. 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The next step is to establish a projection target, where our goal is for the resulting gradient to avoid having a nonnegative inner product with the gradients of other tasks.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The hyper-parameter epsilon is to </a:t>
            </a:r>
            <a:r>
              <a:rPr kumimoji="1" lang="en-US" altLang="zh-CN" sz="1200" dirty="0">
                <a:solidFill>
                  <a:schemeClr val="accent1"/>
                </a:solidFill>
                <a:latin typeface="Helvetica" pitchFamily="2" charset="0"/>
              </a:rPr>
              <a:t>allow</a:t>
            </a:r>
            <a:r>
              <a:rPr kumimoji="1" lang="zh-CN" altLang="en-US" sz="12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200" dirty="0">
                <a:solidFill>
                  <a:schemeClr val="accent1"/>
                </a:solidFill>
                <a:latin typeface="Helvetica" pitchFamily="2" charset="0"/>
              </a:rPr>
              <a:t>the</a:t>
            </a:r>
            <a:r>
              <a:rPr kumimoji="1" lang="zh-CN" altLang="en-US" sz="12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200" dirty="0">
                <a:solidFill>
                  <a:schemeClr val="accent1"/>
                </a:solidFill>
                <a:latin typeface="Helvetica" pitchFamily="2" charset="0"/>
              </a:rPr>
              <a:t>target of positive</a:t>
            </a:r>
            <a:r>
              <a:rPr kumimoji="1" lang="zh-CN" altLang="en-US" sz="12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200" dirty="0">
                <a:solidFill>
                  <a:schemeClr val="accent1"/>
                </a:solidFill>
                <a:latin typeface="Helvetica" pitchFamily="2" charset="0"/>
              </a:rPr>
              <a:t>inner</a:t>
            </a:r>
            <a:r>
              <a:rPr kumimoji="1" lang="zh-CN" altLang="en-US" sz="12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200" dirty="0">
                <a:solidFill>
                  <a:schemeClr val="accent1"/>
                </a:solidFill>
                <a:latin typeface="Helvetica" pitchFamily="2" charset="0"/>
              </a:rPr>
              <a:t>product.</a:t>
            </a:r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Once this target is set, we project the gradient into the linear space and solve for the weight vector.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This process allows us to obtain the updated gradient for each task, ensuring better alignment and reducing conflicts.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4149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OK, now we can summarize our proposed </a:t>
            </a:r>
            <a:r>
              <a:rPr kumimoji="1" lang="en-US" altLang="zh-CN" dirty="0" err="1"/>
              <a:t>GradCraft</a:t>
            </a:r>
            <a:r>
              <a:rPr kumimoji="1" lang="en-US" altLang="zh-CN" dirty="0"/>
              <a:t>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First, we compute the loss for each task and perform backpropagation and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flatten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operations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to obtain the gradient vectors.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Next, we apply our magnitude adjustment and direction deconfliction methods to these gradients.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Finally, we average the updated gradients and use them to update the network parameters with an optimizer.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623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Now, let's move on to the experimental section.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our offline experiments, we used datasets from Kuaishou and WeChat, focusing on binary tasks such as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EffectiveView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LongView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and engagement behaviors like Like and Follow. 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We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choose these tasks as they belong to two different categories, therefore leading to more serious imbalance issue.</a:t>
            </a: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We evaluated the performance using AUC and GAUC metrics, comparing our approach against baselines like Single,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EqualWeighting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and other methods like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PCGrad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r>
              <a:rPr kumimoji="1"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backbone model is set to the classic multi-task learning model.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912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Our offline experiments consistently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demonstrated that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GradCraft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outperforms existing methods, showing significant improvements in handling multi-task recommendations. </a:t>
            </a:r>
          </a:p>
          <a:p>
            <a:endParaRPr lang="en-US" altLang="zh-C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success highlights the effectiveness of our holistic approach to gradient crafting.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03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In our online experiment on the Kuaishou platform, we tested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</a:rPr>
              <a:t>GradCraft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 with 15 million users over the course of a week. </a:t>
            </a:r>
          </a:p>
          <a:p>
            <a:pPr algn="l"/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The results were impressive—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</a:rPr>
              <a:t>GradCraft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 led to increases in average watch time, effective views, and video shares, outperforming the state-of-the-art methods we had been using before.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458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Lastly, we conducted an in-depth analysis.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First, we performed an ablation study. In the magnitude adjustment, we used the parameter tau, and in the Direction deconfliction, we used epsilon. 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To verify the effectiveness of these key designs, we created model variants by removing these components, and the results confirmed their importance.</a:t>
            </a:r>
          </a:p>
          <a:p>
            <a:pPr algn="l"/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Next, we examined the effect of the number of tasks T.</a:t>
            </a: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Our findings </a:t>
            </a:r>
            <a:r>
              <a:rPr lang="en-US" altLang="zh-CN" dirty="0" err="1">
                <a:latin typeface="Helvetica" pitchFamily="2" charset="0"/>
              </a:rPr>
              <a:t>GradCraft</a:t>
            </a:r>
            <a:r>
              <a:rPr lang="en-US" altLang="zh-CN" dirty="0">
                <a:latin typeface="Helvetica" pitchFamily="2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Helvetica" pitchFamily="2" charset="0"/>
              </a:rPr>
              <a:t>scales up </a:t>
            </a:r>
            <a:r>
              <a:rPr lang="en-US" altLang="zh-CN" dirty="0">
                <a:latin typeface="Helvetica" pitchFamily="2" charset="0"/>
              </a:rPr>
              <a:t>effectively with the increasing complexity introduced by a growing number of tasks.</a:t>
            </a:r>
            <a:endParaRPr kumimoji="1" lang="en-US" altLang="zh-CN" sz="1400" dirty="0">
              <a:latin typeface="Helvetica" pitchFamily="2" charset="0"/>
            </a:endParaRPr>
          </a:p>
          <a:p>
            <a:pPr algn="l"/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7349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In conclusion, multi-task learning in recommendations faces challenges of task heterogeneity and cardinality, which </a:t>
            </a:r>
            <a:r>
              <a:rPr lang="en-US" altLang="zh-CN" b="0" i="0" u="none" strike="noStrike" dirty="0" err="1">
                <a:solidFill>
                  <a:srgbClr val="FFFFFF"/>
                </a:solidFill>
                <a:effectLst/>
                <a:latin typeface="-apple-system"/>
              </a:rPr>
              <a:t>GradCraft</a:t>
            </a:r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 addresses through gradient magnitude adjustment and direction deconfliction. </a:t>
            </a:r>
          </a:p>
          <a:p>
            <a:endParaRPr lang="en-US" altLang="zh-CN" b="0" i="0" u="none" strike="noStrike" dirty="0">
              <a:solidFill>
                <a:srgbClr val="FFFFFF"/>
              </a:solidFill>
              <a:effectLst/>
              <a:latin typeface="-apple-system"/>
            </a:endParaRPr>
          </a:p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Our experiments demonstrate its efficacy, and future work will focus on applying these techniques to other domains and improving efficiency.</a:t>
            </a:r>
          </a:p>
          <a:p>
            <a:endParaRPr kumimoji="1" lang="en-US" altLang="zh-CN" b="0" i="0" u="none" strike="noStrike" dirty="0">
              <a:solidFill>
                <a:srgbClr val="FFFFFF"/>
              </a:solidFill>
              <a:effectLst/>
              <a:latin typeface="-apple-system"/>
            </a:endParaRPr>
          </a:p>
          <a:p>
            <a:r>
              <a:rPr lang="en-US" altLang="zh-CN" b="0" i="0" u="none" strike="noStrike" dirty="0">
                <a:solidFill>
                  <a:srgbClr val="FFFFFF"/>
                </a:solidFill>
                <a:effectLst/>
                <a:latin typeface="-apple-system"/>
              </a:rPr>
              <a:t>Thank you for your attention.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796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38545-0422-F14B-8860-F4EBB1684D9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661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ECB10-4E3B-7101-4414-20FCDB9FC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82CB2A-BE9E-C264-0832-3482D67B8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E8583-88AF-74F5-652A-2BBA6A11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39784-0DEC-1BDC-9AE0-0599BED8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9C71F-6A63-58E2-24D7-51F8B469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9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45B79-E73D-EF81-2B67-CD2E3EB6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67199-C867-52D9-5286-0544932E4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A3269C-3695-DA64-6367-8B86C0A3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08182F-AFE4-EDE9-F19B-072CBB90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6DCEF-905E-63E2-325D-4D2CA260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87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3AF52-5C94-5CF1-38AC-46856E67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A8CB3D-A771-0DCA-4AA1-7B92B413A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75417C-8892-EA71-8CBC-BA7F79EF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9D065-B952-0AD8-2E7C-64E7C18B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CB711-9D34-4DBA-9893-7442C9AA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814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19FBF-98B2-7CE0-2995-DBBC15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544CE-0EFF-F828-119D-13B346507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A8668C-A92A-ADCF-0761-48AFE5BFB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7DF1F0-373C-3000-0748-CD96ABB6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4AE394-4CA6-C9E6-6DD9-A0B41406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B35C34-7124-FCCA-C605-F1D3A443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494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AB3CD-C506-DE6D-DD95-DE12A534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39EA9B-0A3E-2399-11FF-E37C928FF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45F864-2CBB-1432-4E98-8C2302DB3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7F6829-7740-EFC8-A4A5-7BD0301A4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0A6262-DE48-DF00-68A2-11A46A4DE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42DFDC-CAFA-8E1D-4381-F9ABB0C1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989ACD-129B-9741-DC12-E1D139F0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9E6A57-C2E8-64F4-2BDE-613DACCF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311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5BECE-A2AF-0D98-E5ED-9FC2A28E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F5B91B-ED26-9781-C26F-38C94784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724194-9F5D-8375-530C-6EE738E3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CA97DC-F053-537B-84A8-0C8A42D8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98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93FD9F-E16B-A79A-DD22-6A3CD647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E4F919-C9CE-EB6F-FFD3-464E2626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B95EA1-4246-8FEC-E91B-E9DFECE7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875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C0D58-2475-8886-5890-0AFBADA5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169370-2871-0578-A7FB-7CBD774AE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144B5D-6E7B-FD02-FCDF-CF931A9BD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3DC8E-2FA1-0014-B059-0B0D5F2F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C2E5D1-AD45-1892-D5F4-691652C5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E2E08A-AF84-2E68-E4AD-639F96AA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861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5363B-A70C-1B58-E559-918057E5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452DBB-3871-B662-92B4-288521C73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106E2A-B62C-2525-DA61-AFE1E567F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2BFA2C-A39D-D89B-C2D1-897F2F32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B47B19-0A77-2E15-483D-CF5B00CC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8BF2D1-654B-B45B-E343-2984C8CB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404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726A9-828E-99DD-2EFD-E420B9AD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B6AE50-DE62-7B1C-B126-97E850E3B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60D459-6E1C-D79D-C976-D7F7DDEC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648BA-B245-9787-E2E7-AF2B698A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0E6A5F-96B0-D0D0-3478-5C7E2876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289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41E0C7-2C2A-4190-61BD-40D0C825B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80B3FC-1055-151A-C4F7-E506D8E09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110381-F857-44E0-A400-84AD1FDF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77C36-B53F-02A2-2E77-A9F79036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94624B-3C61-8339-672B-A0CCC6A5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21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E50AC2-1B79-509C-6930-E2F2B604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3EEEBE-1CFD-A1BF-6C5F-F7C85340C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6CDA80-CD4B-42D9-4DB6-1B11553AE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B927D-6D99-2A4C-ABC6-CF16D2DFA886}" type="datetimeFigureOut">
              <a:rPr kumimoji="1" lang="zh-CN" altLang="en-US" smtClean="0"/>
              <a:t>2024/8/27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34C8DE-8F20-2225-1108-A987D51C4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A5C2E0-7D64-D196-3DF9-C912795CE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25B71-EB08-AF48-B347-E566CCB579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328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0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54.png"/><Relationship Id="rId7" Type="http://schemas.openxmlformats.org/officeDocument/2006/relationships/image" Target="../media/image4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3" Type="http://schemas.openxmlformats.org/officeDocument/2006/relationships/image" Target="../media/image60.png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0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iyimeng/GradCraf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608C442-5B9A-E3B0-4EED-AA357B2D7842}"/>
              </a:ext>
            </a:extLst>
          </p:cNvPr>
          <p:cNvSpPr txBox="1"/>
          <p:nvPr/>
        </p:nvSpPr>
        <p:spPr>
          <a:xfrm>
            <a:off x="418671" y="1688610"/>
            <a:ext cx="11354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i="0" u="none" strike="noStrike" dirty="0" err="1">
                <a:effectLst/>
                <a:latin typeface="Helvetica" pitchFamily="2" charset="0"/>
              </a:rPr>
              <a:t>GradCraft</a:t>
            </a:r>
            <a:r>
              <a:rPr lang="en-US" altLang="zh-CN" sz="3600" b="1" i="0" u="none" strike="noStrike" dirty="0">
                <a:effectLst/>
                <a:latin typeface="Helvetica" pitchFamily="2" charset="0"/>
              </a:rPr>
              <a:t>: Elevating Multi-task Recommendations through Holistic Gradient Crafting</a:t>
            </a:r>
            <a:endParaRPr kumimoji="1" lang="zh-CN" altLang="en-US" sz="3600" b="1" dirty="0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89B715-62D1-0851-1735-176A13045F48}"/>
              </a:ext>
            </a:extLst>
          </p:cNvPr>
          <p:cNvSpPr txBox="1"/>
          <p:nvPr/>
        </p:nvSpPr>
        <p:spPr>
          <a:xfrm>
            <a:off x="1229924" y="4336360"/>
            <a:ext cx="9732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u="sng" dirty="0" err="1">
                <a:latin typeface="Helvetica" pitchFamily="2" charset="0"/>
              </a:rPr>
              <a:t>Yimeng</a:t>
            </a:r>
            <a:r>
              <a:rPr kumimoji="1" lang="en-US" altLang="zh-CN" sz="2000" b="1" u="sng" dirty="0">
                <a:latin typeface="Helvetica" pitchFamily="2" charset="0"/>
              </a:rPr>
              <a:t> Bai</a:t>
            </a:r>
            <a:r>
              <a:rPr kumimoji="1" lang="en-US" altLang="zh-CN" sz="2000" u="sng" dirty="0">
                <a:latin typeface="Helvetica" pitchFamily="2" charset="0"/>
              </a:rPr>
              <a:t>, Yang Zhang, </a:t>
            </a:r>
            <a:r>
              <a:rPr kumimoji="1" lang="en-US" altLang="zh-CN" sz="2000" u="sng" dirty="0" err="1">
                <a:latin typeface="Helvetica" pitchFamily="2" charset="0"/>
              </a:rPr>
              <a:t>Fuli</a:t>
            </a:r>
            <a:r>
              <a:rPr kumimoji="1" lang="en-US" altLang="zh-CN" sz="2000" u="sng" dirty="0">
                <a:latin typeface="Helvetica" pitchFamily="2" charset="0"/>
              </a:rPr>
              <a:t> Feng, Jing Lu, </a:t>
            </a:r>
            <a:r>
              <a:rPr kumimoji="1" lang="en-US" altLang="zh-CN" sz="2000" u="sng" dirty="0" err="1">
                <a:latin typeface="Helvetica" pitchFamily="2" charset="0"/>
              </a:rPr>
              <a:t>Xiaoxue</a:t>
            </a:r>
            <a:r>
              <a:rPr kumimoji="1" lang="en-US" altLang="zh-CN" sz="2000" u="sng" dirty="0">
                <a:latin typeface="Helvetica" pitchFamily="2" charset="0"/>
              </a:rPr>
              <a:t> Zang, </a:t>
            </a:r>
            <a:r>
              <a:rPr kumimoji="1" lang="en-US" altLang="zh-CN" sz="2000" u="sng" dirty="0" err="1">
                <a:latin typeface="Helvetica" pitchFamily="2" charset="0"/>
              </a:rPr>
              <a:t>Chenyi</a:t>
            </a:r>
            <a:r>
              <a:rPr kumimoji="1" lang="en-US" altLang="zh-CN" sz="2000" u="sng" dirty="0">
                <a:latin typeface="Helvetica" pitchFamily="2" charset="0"/>
              </a:rPr>
              <a:t> Lei, Yang Song</a:t>
            </a:r>
            <a:endParaRPr kumimoji="1" lang="zh-CN" altLang="en-US" sz="2000" u="sng" dirty="0">
              <a:latin typeface="Helvetica" pitchFamily="2" charset="0"/>
            </a:endParaRPr>
          </a:p>
        </p:txBody>
      </p:sp>
      <p:pic>
        <p:nvPicPr>
          <p:cNvPr id="1028" name="Picture 4" descr="USTC学习资料">
            <a:extLst>
              <a:ext uri="{FF2B5EF4-FFF2-40B4-BE49-F238E27FC236}">
                <a16:creationId xmlns:a16="http://schemas.microsoft.com/office/drawing/2014/main" id="{EDB0343A-C938-77C1-1DCE-62F2B1B88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197" y="174988"/>
            <a:ext cx="1139214" cy="113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FF653C-FB79-97CC-6782-643CDA54B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5521" y="178539"/>
            <a:ext cx="1133820" cy="113382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B02A9C3-6961-FEAA-DBF5-1A9155113721}"/>
              </a:ext>
            </a:extLst>
          </p:cNvPr>
          <p:cNvSpPr txBox="1"/>
          <p:nvPr/>
        </p:nvSpPr>
        <p:spPr>
          <a:xfrm>
            <a:off x="3760792" y="3685853"/>
            <a:ext cx="4670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u="sng" dirty="0">
                <a:solidFill>
                  <a:srgbClr val="0070C0"/>
                </a:solidFill>
                <a:latin typeface="Helvetica" pitchFamily="2" charset="0"/>
              </a:rPr>
              <a:t>USTC</a:t>
            </a:r>
            <a:r>
              <a:rPr kumimoji="1" lang="zh-CN" altLang="en-US" sz="2400" u="sng" dirty="0">
                <a:latin typeface="Helvetica" pitchFamily="2" charset="0"/>
              </a:rPr>
              <a:t> </a:t>
            </a:r>
            <a:r>
              <a:rPr kumimoji="1" lang="en-US" altLang="zh-CN" sz="2400" u="sng" dirty="0">
                <a:latin typeface="Helvetica" pitchFamily="2" charset="0"/>
              </a:rPr>
              <a:t>&amp;</a:t>
            </a:r>
            <a:r>
              <a:rPr kumimoji="1" lang="zh-CN" altLang="en-US" sz="2400" u="sng" dirty="0">
                <a:latin typeface="Helvetica" pitchFamily="2" charset="0"/>
              </a:rPr>
              <a:t> </a:t>
            </a:r>
            <a:r>
              <a:rPr kumimoji="1" lang="en-US" altLang="zh-CN" sz="2400" u="sng" dirty="0">
                <a:solidFill>
                  <a:srgbClr val="FF0000"/>
                </a:solidFill>
                <a:latin typeface="Helvetica" pitchFamily="2" charset="0"/>
              </a:rPr>
              <a:t>Kuaishou</a:t>
            </a:r>
            <a:r>
              <a:rPr kumimoji="1" lang="zh-CN" altLang="en-US" sz="2400" u="sng" dirty="0">
                <a:solidFill>
                  <a:srgbClr val="FF0000"/>
                </a:solidFill>
                <a:latin typeface="Helvetica" pitchFamily="2" charset="0"/>
              </a:rPr>
              <a:t> </a:t>
            </a:r>
            <a:r>
              <a:rPr kumimoji="1" lang="en-US" altLang="zh-CN" sz="2400" u="sng" dirty="0">
                <a:solidFill>
                  <a:srgbClr val="FF0000"/>
                </a:solidFill>
                <a:latin typeface="Helvetica" pitchFamily="2" charset="0"/>
              </a:rPr>
              <a:t>Technology</a:t>
            </a:r>
            <a:endParaRPr kumimoji="1" lang="zh-CN" altLang="en-US" sz="2400" u="sng" dirty="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D913F9-A51A-D450-1AB5-23A37E43E4AB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01/15</a:t>
            </a:r>
            <a:endParaRPr kumimoji="1" lang="zh-CN" altLang="en-US" dirty="0">
              <a:latin typeface="Helvetica" pitchFamily="2" charset="0"/>
            </a:endParaRPr>
          </a:p>
        </p:txBody>
      </p:sp>
      <p:pic>
        <p:nvPicPr>
          <p:cNvPr id="2" name="Picture 2" descr="ACM KDD 2024">
            <a:extLst>
              <a:ext uri="{FF2B5EF4-FFF2-40B4-BE49-F238E27FC236}">
                <a16:creationId xmlns:a16="http://schemas.microsoft.com/office/drawing/2014/main" id="{A95A7362-1DAA-43E1-FB3E-23D636594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35977"/>
            <a:ext cx="4176087" cy="93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90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Outline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97C782-EA2A-FAE2-158C-4F800AB968E2}"/>
              </a:ext>
            </a:extLst>
          </p:cNvPr>
          <p:cNvSpPr txBox="1"/>
          <p:nvPr/>
        </p:nvSpPr>
        <p:spPr>
          <a:xfrm>
            <a:off x="1288025" y="1758007"/>
            <a:ext cx="9615949" cy="2975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3200" dirty="0">
                <a:latin typeface="Helvetica" pitchFamily="2" charset="0"/>
              </a:rPr>
              <a:t> </a:t>
            </a:r>
            <a:r>
              <a:rPr kumimoji="1" lang="en-US" altLang="zh-CN" sz="3200" dirty="0">
                <a:latin typeface="Helvetica" pitchFamily="2" charset="0"/>
              </a:rPr>
              <a:t>Background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3200" dirty="0">
                <a:latin typeface="Helvetica" pitchFamily="2" charset="0"/>
              </a:rPr>
              <a:t> </a:t>
            </a:r>
            <a:r>
              <a:rPr kumimoji="1" lang="en-US" altLang="zh-CN" sz="3200" dirty="0">
                <a:latin typeface="Helvetica" pitchFamily="2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en-US" altLang="zh-CN" sz="3200" dirty="0">
                <a:latin typeface="Helvetica" pitchFamily="2" charset="0"/>
              </a:rPr>
              <a:t> Experiment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en-US" altLang="zh-CN" sz="3200" dirty="0">
                <a:latin typeface="Helvetica" pitchFamily="2" charset="0"/>
              </a:rPr>
              <a:t> Conclusion</a:t>
            </a:r>
            <a:endParaRPr kumimoji="1" lang="zh-CN" altLang="en-US" sz="3200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0F5D84-CDC9-C1F1-110C-0229588666E9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02/15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56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Background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458080-F8AF-0B17-A606-24563F28F565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3200" dirty="0">
                <a:latin typeface="Helvetica" pitchFamily="2" charset="0"/>
              </a:rPr>
              <a:t> </a:t>
            </a:r>
            <a:r>
              <a:rPr kumimoji="1" lang="en-US" altLang="zh-CN" sz="3200" dirty="0">
                <a:latin typeface="Helvetica" pitchFamily="2" charset="0"/>
              </a:rPr>
              <a:t>What is Multi-task Recommendation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42B8FE-2264-9335-691D-5CA5F26F2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527" y="2709035"/>
            <a:ext cx="1183368" cy="2561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0710AC-C4D0-8E21-4C71-01ED93ABD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18" y="4853394"/>
            <a:ext cx="841174" cy="8411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E690EA-47A7-BC55-9BF8-4D4676CB8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5749" y="3171979"/>
            <a:ext cx="781471" cy="7814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9BD320-37F9-D95B-F5B0-0D542616D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6207" y="4853394"/>
            <a:ext cx="841174" cy="84117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2866807-FD64-8E37-4C7E-73333F058027}"/>
              </a:ext>
            </a:extLst>
          </p:cNvPr>
          <p:cNvSpPr/>
          <p:nvPr/>
        </p:nvSpPr>
        <p:spPr>
          <a:xfrm>
            <a:off x="549389" y="1922860"/>
            <a:ext cx="3987964" cy="4226605"/>
          </a:xfrm>
          <a:prstGeom prst="rect">
            <a:avLst/>
          </a:prstGeom>
          <a:noFill/>
          <a:ln w="158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F5369C-4A79-9830-18D8-A71418380047}"/>
              </a:ext>
            </a:extLst>
          </p:cNvPr>
          <p:cNvSpPr txBox="1"/>
          <p:nvPr/>
        </p:nvSpPr>
        <p:spPr>
          <a:xfrm>
            <a:off x="843218" y="5694568"/>
            <a:ext cx="841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Helvetica" pitchFamily="2" charset="0"/>
              </a:rPr>
              <a:t>User</a:t>
            </a:r>
            <a:endParaRPr kumimoji="1" lang="zh-CN" altLang="en-US" sz="2000" dirty="0">
              <a:latin typeface="Helvetica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2DDEFE-9AA9-B662-4342-E053CF433E3D}"/>
              </a:ext>
            </a:extLst>
          </p:cNvPr>
          <p:cNvSpPr txBox="1"/>
          <p:nvPr/>
        </p:nvSpPr>
        <p:spPr>
          <a:xfrm>
            <a:off x="3426206" y="5686886"/>
            <a:ext cx="1051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Helvetica" pitchFamily="2" charset="0"/>
              </a:rPr>
              <a:t>System</a:t>
            </a:r>
            <a:endParaRPr kumimoji="1" lang="zh-CN" altLang="en-US" sz="2000" dirty="0">
              <a:latin typeface="Helvetica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EB3B71-9B71-761B-92B8-BE499604EB08}"/>
              </a:ext>
            </a:extLst>
          </p:cNvPr>
          <p:cNvSpPr txBox="1"/>
          <p:nvPr/>
        </p:nvSpPr>
        <p:spPr>
          <a:xfrm>
            <a:off x="2196476" y="3953450"/>
            <a:ext cx="781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Helvetica" pitchFamily="2" charset="0"/>
              </a:rPr>
              <a:t>Data</a:t>
            </a:r>
            <a:endParaRPr kumimoji="1" lang="zh-CN" altLang="en-US" sz="2000" dirty="0">
              <a:latin typeface="Helvetica" pitchFamily="2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8DE321BC-55EE-DA5F-8CD6-FEB866953E3E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flipV="1">
            <a:off x="1263805" y="3562715"/>
            <a:ext cx="1001944" cy="12906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7019B99-5555-D434-D4E1-A9E446A8A46B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>
            <a:off x="1684392" y="5273981"/>
            <a:ext cx="17418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5057AD1-E70B-8F6A-34DC-F74C96F5B63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870450" y="3562714"/>
            <a:ext cx="976344" cy="1290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C5CE23B-E3AA-991A-6CE5-E2688312251D}"/>
              </a:ext>
            </a:extLst>
          </p:cNvPr>
          <p:cNvSpPr txBox="1"/>
          <p:nvPr/>
        </p:nvSpPr>
        <p:spPr>
          <a:xfrm>
            <a:off x="3452040" y="3989536"/>
            <a:ext cx="1051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Learning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1E65CC-C989-B4AB-312E-800E855735C4}"/>
              </a:ext>
            </a:extLst>
          </p:cNvPr>
          <p:cNvSpPr txBox="1"/>
          <p:nvPr/>
        </p:nvSpPr>
        <p:spPr>
          <a:xfrm>
            <a:off x="659104" y="3989536"/>
            <a:ext cx="1116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Collecting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8A0160-9F32-766D-EA9B-294601F3517C}"/>
              </a:ext>
            </a:extLst>
          </p:cNvPr>
          <p:cNvSpPr txBox="1"/>
          <p:nvPr/>
        </p:nvSpPr>
        <p:spPr>
          <a:xfrm>
            <a:off x="2130670" y="4931586"/>
            <a:ext cx="1051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Serving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FE6AB77-AFED-03C6-C534-778122F2FFD9}"/>
              </a:ext>
            </a:extLst>
          </p:cNvPr>
          <p:cNvSpPr txBox="1"/>
          <p:nvPr/>
        </p:nvSpPr>
        <p:spPr>
          <a:xfrm>
            <a:off x="1263805" y="1977574"/>
            <a:ext cx="3060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Helvetica" pitchFamily="2" charset="0"/>
              </a:rPr>
              <a:t>Feedback Loop</a:t>
            </a:r>
            <a:endParaRPr kumimoji="1" lang="zh-CN" altLang="en-US" sz="2800" b="1" dirty="0">
              <a:latin typeface="Helvetica" pitchFamily="2" charset="0"/>
            </a:endParaRP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878E912E-1013-B6C9-658D-4C134F346C16}"/>
              </a:ext>
            </a:extLst>
          </p:cNvPr>
          <p:cNvCxnSpPr>
            <a:cxnSpLocks/>
          </p:cNvCxnSpPr>
          <p:nvPr/>
        </p:nvCxnSpPr>
        <p:spPr>
          <a:xfrm>
            <a:off x="549389" y="2500794"/>
            <a:ext cx="3987964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E73A2636-F204-A992-AB1C-B9994607C3EB}"/>
              </a:ext>
            </a:extLst>
          </p:cNvPr>
          <p:cNvSpPr/>
          <p:nvPr/>
        </p:nvSpPr>
        <p:spPr>
          <a:xfrm>
            <a:off x="5093109" y="1928430"/>
            <a:ext cx="6447526" cy="4226605"/>
          </a:xfrm>
          <a:prstGeom prst="rect">
            <a:avLst/>
          </a:prstGeom>
          <a:noFill/>
          <a:ln w="158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3BEDB22-2E83-6777-525D-B5B3E0508B66}"/>
              </a:ext>
            </a:extLst>
          </p:cNvPr>
          <p:cNvSpPr txBox="1"/>
          <p:nvPr/>
        </p:nvSpPr>
        <p:spPr>
          <a:xfrm>
            <a:off x="5955001" y="1965642"/>
            <a:ext cx="4199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Helvetica" pitchFamily="2" charset="0"/>
              </a:rPr>
              <a:t>Why Muti-task Learning</a:t>
            </a:r>
            <a:endParaRPr kumimoji="1" lang="zh-CN" altLang="en-US" sz="2800" b="1" dirty="0">
              <a:latin typeface="Helvetica" pitchFamily="2" charset="0"/>
            </a:endParaRPr>
          </a:p>
        </p:txBody>
      </p: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3FD7CF01-3FCB-D25C-1065-C2C12799513A}"/>
              </a:ext>
            </a:extLst>
          </p:cNvPr>
          <p:cNvCxnSpPr>
            <a:cxnSpLocks/>
          </p:cNvCxnSpPr>
          <p:nvPr/>
        </p:nvCxnSpPr>
        <p:spPr>
          <a:xfrm flipV="1">
            <a:off x="5093110" y="2488862"/>
            <a:ext cx="6447525" cy="17502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右箭头 53">
            <a:extLst>
              <a:ext uri="{FF2B5EF4-FFF2-40B4-BE49-F238E27FC236}">
                <a16:creationId xmlns:a16="http://schemas.microsoft.com/office/drawing/2014/main" id="{3FBC7179-0AAF-D898-87B1-67548937B5A4}"/>
              </a:ext>
            </a:extLst>
          </p:cNvPr>
          <p:cNvSpPr/>
          <p:nvPr/>
        </p:nvSpPr>
        <p:spPr>
          <a:xfrm>
            <a:off x="6772705" y="3910744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左大括号 55">
            <a:extLst>
              <a:ext uri="{FF2B5EF4-FFF2-40B4-BE49-F238E27FC236}">
                <a16:creationId xmlns:a16="http://schemas.microsoft.com/office/drawing/2014/main" id="{C9C93B40-46B2-5CA7-0581-C6A907CB306F}"/>
              </a:ext>
            </a:extLst>
          </p:cNvPr>
          <p:cNvSpPr/>
          <p:nvPr/>
        </p:nvSpPr>
        <p:spPr>
          <a:xfrm>
            <a:off x="7380540" y="2975357"/>
            <a:ext cx="149659" cy="203139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F549B8-E82E-3094-00A8-60FA62F3D6EE}"/>
              </a:ext>
            </a:extLst>
          </p:cNvPr>
          <p:cNvSpPr txBox="1"/>
          <p:nvPr/>
        </p:nvSpPr>
        <p:spPr>
          <a:xfrm>
            <a:off x="7611795" y="3345855"/>
            <a:ext cx="1406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TaskB</a:t>
            </a:r>
            <a:r>
              <a:rPr kumimoji="1" lang="en-US" altLang="zh-CN" sz="1600" dirty="0">
                <a:latin typeface="Helvetica" pitchFamily="2" charset="0"/>
              </a:rPr>
              <a:t>: like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6587FAF-5433-6432-439E-8DDEA616D5AE}"/>
              </a:ext>
            </a:extLst>
          </p:cNvPr>
          <p:cNvSpPr txBox="1"/>
          <p:nvPr/>
        </p:nvSpPr>
        <p:spPr>
          <a:xfrm>
            <a:off x="7611795" y="2922036"/>
            <a:ext cx="1821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TaskA</a:t>
            </a:r>
            <a:r>
              <a:rPr kumimoji="1" lang="en-US" altLang="zh-CN" sz="1600" dirty="0">
                <a:latin typeface="Helvetica" pitchFamily="2" charset="0"/>
              </a:rPr>
              <a:t>: long view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DE11DF6-061E-F73E-6902-964B325EACDD}"/>
              </a:ext>
            </a:extLst>
          </p:cNvPr>
          <p:cNvSpPr txBox="1"/>
          <p:nvPr/>
        </p:nvSpPr>
        <p:spPr>
          <a:xfrm>
            <a:off x="7611796" y="3807675"/>
            <a:ext cx="1465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TaskC</a:t>
            </a:r>
            <a:r>
              <a:rPr kumimoji="1" lang="en-US" altLang="zh-CN" sz="1600" dirty="0">
                <a:latin typeface="Helvetica" pitchFamily="2" charset="0"/>
              </a:rPr>
              <a:t>: follow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7FEEC9F-4B5B-5E0E-5333-5C494EC4341C}"/>
              </a:ext>
            </a:extLst>
          </p:cNvPr>
          <p:cNvSpPr txBox="1"/>
          <p:nvPr/>
        </p:nvSpPr>
        <p:spPr>
          <a:xfrm>
            <a:off x="7611795" y="4267240"/>
            <a:ext cx="1738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TaskD</a:t>
            </a:r>
            <a:r>
              <a:rPr kumimoji="1" lang="en-US" altLang="zh-CN" sz="1600" dirty="0">
                <a:latin typeface="Helvetica" pitchFamily="2" charset="0"/>
              </a:rPr>
              <a:t>: forward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FEC905F-2398-2981-FA23-9B20BD106B31}"/>
              </a:ext>
            </a:extLst>
          </p:cNvPr>
          <p:cNvSpPr txBox="1"/>
          <p:nvPr/>
        </p:nvSpPr>
        <p:spPr>
          <a:xfrm>
            <a:off x="7611796" y="4691059"/>
            <a:ext cx="891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…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2" name="右箭头 61">
            <a:extLst>
              <a:ext uri="{FF2B5EF4-FFF2-40B4-BE49-F238E27FC236}">
                <a16:creationId xmlns:a16="http://schemas.microsoft.com/office/drawing/2014/main" id="{738DDE6F-1DDF-A7CA-6F6C-DE607A618352}"/>
              </a:ext>
            </a:extLst>
          </p:cNvPr>
          <p:cNvSpPr/>
          <p:nvPr/>
        </p:nvSpPr>
        <p:spPr>
          <a:xfrm>
            <a:off x="9109212" y="3899868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F83A0373-C9A5-E62F-3CE3-5FCA0EE11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2239" y="2892524"/>
            <a:ext cx="1649192" cy="2025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0A319B0-5501-978A-DD93-2587AF12CABC}"/>
                  </a:ext>
                </a:extLst>
              </p:cNvPr>
              <p:cNvSpPr txBox="1"/>
              <p:nvPr/>
            </p:nvSpPr>
            <p:spPr>
              <a:xfrm>
                <a:off x="6360765" y="5318605"/>
                <a:ext cx="390841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1" i="1" dirty="0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</a:rPr>
                        <m:t> + … </m:t>
                      </m:r>
                    </m:oMath>
                  </m:oMathPara>
                </a14:m>
                <a:endParaRPr kumimoji="1" lang="en-US" altLang="zh-CN" sz="1600" dirty="0">
                  <a:latin typeface="Helvetica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1" i="1" dirty="0" smtClean="0">
                          <a:latin typeface="Cambria Math" panose="02040503050406030204" pitchFamily="18" charset="0"/>
                        </a:rPr>
                        <m:t>𝑮𝒓𝒂𝒅𝒊𝒆𝒏𝒕</m:t>
                      </m:r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</a:rPr>
                        <m:t> + … </m:t>
                      </m:r>
                    </m:oMath>
                  </m:oMathPara>
                </a14:m>
                <a:endParaRPr kumimoji="1" lang="en-US" altLang="zh-CN" sz="16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0A319B0-5501-978A-DD93-2587AF12C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765" y="5318605"/>
                <a:ext cx="3908418" cy="584775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本框 67">
            <a:extLst>
              <a:ext uri="{FF2B5EF4-FFF2-40B4-BE49-F238E27FC236}">
                <a16:creationId xmlns:a16="http://schemas.microsoft.com/office/drawing/2014/main" id="{385B667A-6E6E-8329-3FA6-0E29A9BD01E4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03/15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3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Background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458080-F8AF-0B17-A606-24563F28F565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3200" dirty="0">
                <a:latin typeface="Helvetica" pitchFamily="2" charset="0"/>
              </a:rPr>
              <a:t> </a:t>
            </a:r>
            <a:r>
              <a:rPr kumimoji="1" lang="en-US" altLang="zh-CN" sz="3200" dirty="0">
                <a:latin typeface="Helvetica" pitchFamily="2" charset="0"/>
              </a:rPr>
              <a:t>Challenge in Multi-task Recommendations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02982D7-1B21-D58B-1961-660305865C89}"/>
              </a:ext>
            </a:extLst>
          </p:cNvPr>
          <p:cNvSpPr/>
          <p:nvPr/>
        </p:nvSpPr>
        <p:spPr>
          <a:xfrm>
            <a:off x="549388" y="1922860"/>
            <a:ext cx="5045259" cy="4226605"/>
          </a:xfrm>
          <a:prstGeom prst="rect">
            <a:avLst/>
          </a:prstGeom>
          <a:noFill/>
          <a:ln w="158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2E999F-2E88-EF99-4D94-C36797A479D2}"/>
              </a:ext>
            </a:extLst>
          </p:cNvPr>
          <p:cNvSpPr/>
          <p:nvPr/>
        </p:nvSpPr>
        <p:spPr>
          <a:xfrm>
            <a:off x="6597353" y="1922859"/>
            <a:ext cx="5045260" cy="4226605"/>
          </a:xfrm>
          <a:prstGeom prst="rect">
            <a:avLst/>
          </a:prstGeom>
          <a:noFill/>
          <a:ln w="158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0FEF677-F00E-C1AC-B30D-624B8E77DC6A}"/>
              </a:ext>
            </a:extLst>
          </p:cNvPr>
          <p:cNvCxnSpPr>
            <a:cxnSpLocks/>
          </p:cNvCxnSpPr>
          <p:nvPr/>
        </p:nvCxnSpPr>
        <p:spPr>
          <a:xfrm>
            <a:off x="549389" y="2500794"/>
            <a:ext cx="5045258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4D723E63-7215-CBCC-BB5F-7EAEC0ABF469}"/>
              </a:ext>
            </a:extLst>
          </p:cNvPr>
          <p:cNvCxnSpPr>
            <a:cxnSpLocks/>
          </p:cNvCxnSpPr>
          <p:nvPr/>
        </p:nvCxnSpPr>
        <p:spPr>
          <a:xfrm>
            <a:off x="6597355" y="2487700"/>
            <a:ext cx="5045258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EFDB781-FF34-D0F9-C787-CC358864AB32}"/>
              </a:ext>
            </a:extLst>
          </p:cNvPr>
          <p:cNvSpPr txBox="1"/>
          <p:nvPr/>
        </p:nvSpPr>
        <p:spPr>
          <a:xfrm>
            <a:off x="549387" y="1950217"/>
            <a:ext cx="5045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latin typeface="Helvetica" pitchFamily="2" charset="0"/>
              </a:rPr>
              <a:t>Task Heterogeneity</a:t>
            </a:r>
            <a:endParaRPr kumimoji="1" lang="zh-CN" altLang="en-US" sz="2800" b="1" dirty="0">
              <a:latin typeface="Helvetica" pitchFamily="2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F790811-170A-ECF7-CFC1-2971C57D6460}"/>
              </a:ext>
            </a:extLst>
          </p:cNvPr>
          <p:cNvSpPr txBox="1"/>
          <p:nvPr/>
        </p:nvSpPr>
        <p:spPr>
          <a:xfrm>
            <a:off x="6597351" y="1950216"/>
            <a:ext cx="5045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latin typeface="Helvetica" pitchFamily="2" charset="0"/>
              </a:rPr>
              <a:t>Task Cardinality</a:t>
            </a:r>
            <a:endParaRPr kumimoji="1" lang="zh-CN" altLang="en-US" sz="2800" b="1" dirty="0">
              <a:latin typeface="Helvetica" pitchFamily="2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72A9E1F-70AD-FCF1-0876-F7CAB081DD47}"/>
              </a:ext>
            </a:extLst>
          </p:cNvPr>
          <p:cNvSpPr txBox="1"/>
          <p:nvPr/>
        </p:nvSpPr>
        <p:spPr>
          <a:xfrm>
            <a:off x="790740" y="3383983"/>
            <a:ext cx="1959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Viewing: long view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30ABFBF-DB39-CC76-5022-582EC31D20CB}"/>
              </a:ext>
            </a:extLst>
          </p:cNvPr>
          <p:cNvSpPr txBox="1"/>
          <p:nvPr/>
        </p:nvSpPr>
        <p:spPr>
          <a:xfrm>
            <a:off x="3192693" y="3383983"/>
            <a:ext cx="1959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Engagement: like</a:t>
            </a:r>
            <a:endParaRPr kumimoji="1" lang="zh-CN" altLang="en-US" sz="1600" dirty="0">
              <a:latin typeface="Helvetica" pitchFamily="2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D2247B0-846F-0502-1BF9-FB18042B4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33" y="2610589"/>
            <a:ext cx="694152" cy="694152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2545CAA9-47AF-38D7-4466-6C5B9D138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481" y="2674600"/>
            <a:ext cx="598784" cy="598784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6FF21D00-DF65-2AAE-C5EC-5A0A665BE032}"/>
              </a:ext>
            </a:extLst>
          </p:cNvPr>
          <p:cNvSpPr txBox="1"/>
          <p:nvPr/>
        </p:nvSpPr>
        <p:spPr>
          <a:xfrm>
            <a:off x="612768" y="3995127"/>
            <a:ext cx="4918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latin typeface="Helvetica" pitchFamily="2" charset="0"/>
              </a:rPr>
              <a:t>Engagement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behavior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is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sparser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than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u="sng" dirty="0">
                <a:latin typeface="Helvetica" pitchFamily="2" charset="0"/>
              </a:rPr>
              <a:t>viewing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behavior</a:t>
            </a:r>
            <a:endParaRPr kumimoji="1" lang="zh-CN" altLang="en-US" sz="1400" dirty="0">
              <a:latin typeface="Helvetica" pitchFamily="2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0A61B5B-7FD7-02C7-59FF-43FA47EC5078}"/>
              </a:ext>
            </a:extLst>
          </p:cNvPr>
          <p:cNvSpPr txBox="1"/>
          <p:nvPr/>
        </p:nvSpPr>
        <p:spPr>
          <a:xfrm>
            <a:off x="612768" y="4575149"/>
            <a:ext cx="4981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elvetica" pitchFamily="2" charset="0"/>
              </a:rPr>
              <a:t>Gradient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perspective: </a:t>
            </a:r>
            <a:r>
              <a:rPr kumimoji="1" lang="en-US" altLang="zh-CN" sz="1400" b="1" dirty="0">
                <a:solidFill>
                  <a:srgbClr val="FF0000"/>
                </a:solidFill>
                <a:latin typeface="Helvetica" pitchFamily="2" charset="0"/>
              </a:rPr>
              <a:t>gradient magnitudes</a:t>
            </a:r>
            <a:r>
              <a:rPr kumimoji="1" lang="zh-CN" altLang="en-US" sz="1400" b="1" dirty="0">
                <a:solidFill>
                  <a:srgbClr val="FF0000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are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different.  </a:t>
            </a:r>
            <a:endParaRPr kumimoji="1" lang="zh-CN" altLang="en-US" sz="1400" dirty="0">
              <a:latin typeface="Helvetica" pitchFamily="2" charset="0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EA8D4C53-1A4C-3B3D-4A85-7659C6C1BB66}"/>
              </a:ext>
            </a:extLst>
          </p:cNvPr>
          <p:cNvCxnSpPr>
            <a:cxnSpLocks/>
          </p:cNvCxnSpPr>
          <p:nvPr/>
        </p:nvCxnSpPr>
        <p:spPr>
          <a:xfrm flipH="1" flipV="1">
            <a:off x="1640509" y="5050082"/>
            <a:ext cx="989800" cy="658026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1F3DC7EF-50BD-669F-86ED-032CF8D1696A}"/>
              </a:ext>
            </a:extLst>
          </p:cNvPr>
          <p:cNvCxnSpPr>
            <a:cxnSpLocks/>
          </p:cNvCxnSpPr>
          <p:nvPr/>
        </p:nvCxnSpPr>
        <p:spPr>
          <a:xfrm flipH="1" flipV="1">
            <a:off x="2478280" y="5379095"/>
            <a:ext cx="152029" cy="329013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17BFC71-9AF9-39CF-357D-A778138A89EC}"/>
                  </a:ext>
                </a:extLst>
              </p:cNvPr>
              <p:cNvSpPr txBox="1"/>
              <p:nvPr/>
            </p:nvSpPr>
            <p:spPr>
              <a:xfrm>
                <a:off x="621467" y="5235485"/>
                <a:ext cx="15482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17BFC71-9AF9-39CF-357D-A778138A8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67" y="5235485"/>
                <a:ext cx="154827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6129DAC-0173-E5FB-22F8-E48DE156B3DB}"/>
                  </a:ext>
                </a:extLst>
              </p:cNvPr>
              <p:cNvSpPr txBox="1"/>
              <p:nvPr/>
            </p:nvSpPr>
            <p:spPr>
              <a:xfrm>
                <a:off x="2390838" y="5235485"/>
                <a:ext cx="2238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∥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6129DAC-0173-E5FB-22F8-E48DE156B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838" y="5235485"/>
                <a:ext cx="223871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C7BB8F69-4850-B7F3-9507-B8B1555E8FB7}"/>
              </a:ext>
            </a:extLst>
          </p:cNvPr>
          <p:cNvSpPr txBox="1"/>
          <p:nvPr/>
        </p:nvSpPr>
        <p:spPr>
          <a:xfrm>
            <a:off x="7028083" y="3169844"/>
            <a:ext cx="1406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TaskB</a:t>
            </a:r>
            <a:r>
              <a:rPr kumimoji="1" lang="en-US" altLang="zh-CN" sz="1600" dirty="0">
                <a:latin typeface="Helvetica" pitchFamily="2" charset="0"/>
              </a:rPr>
              <a:t>: like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8DE6C11-3645-23DD-326D-C176A4422513}"/>
              </a:ext>
            </a:extLst>
          </p:cNvPr>
          <p:cNvSpPr txBox="1"/>
          <p:nvPr/>
        </p:nvSpPr>
        <p:spPr>
          <a:xfrm>
            <a:off x="7028083" y="2746025"/>
            <a:ext cx="1821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TaskA</a:t>
            </a:r>
            <a:r>
              <a:rPr kumimoji="1" lang="en-US" altLang="zh-CN" sz="1600" dirty="0">
                <a:latin typeface="Helvetica" pitchFamily="2" charset="0"/>
              </a:rPr>
              <a:t>: long view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A71D944-BF15-2CBB-8EA0-8C5E97C731A8}"/>
              </a:ext>
            </a:extLst>
          </p:cNvPr>
          <p:cNvSpPr txBox="1"/>
          <p:nvPr/>
        </p:nvSpPr>
        <p:spPr>
          <a:xfrm>
            <a:off x="7028084" y="3631664"/>
            <a:ext cx="1465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 err="1">
                <a:latin typeface="Helvetica" pitchFamily="2" charset="0"/>
              </a:rPr>
              <a:t>TaskC</a:t>
            </a:r>
            <a:r>
              <a:rPr kumimoji="1" lang="en-US" altLang="zh-CN" sz="1600" dirty="0">
                <a:latin typeface="Helvetica" pitchFamily="2" charset="0"/>
              </a:rPr>
              <a:t>: follow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D657B21-33C3-6BEA-4994-A200E283F934}"/>
              </a:ext>
            </a:extLst>
          </p:cNvPr>
          <p:cNvSpPr txBox="1"/>
          <p:nvPr/>
        </p:nvSpPr>
        <p:spPr>
          <a:xfrm>
            <a:off x="7078294" y="4094442"/>
            <a:ext cx="891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…</a:t>
            </a:r>
            <a:endParaRPr kumimoji="1" lang="zh-CN" altLang="en-US" sz="1600" dirty="0">
              <a:latin typeface="Helvetica" pitchFamily="2" charset="0"/>
            </a:endParaRPr>
          </a:p>
        </p:txBody>
      </p:sp>
      <p:sp>
        <p:nvSpPr>
          <p:cNvPr id="64" name="右箭头 63">
            <a:extLst>
              <a:ext uri="{FF2B5EF4-FFF2-40B4-BE49-F238E27FC236}">
                <a16:creationId xmlns:a16="http://schemas.microsoft.com/office/drawing/2014/main" id="{610158A8-5574-B03C-2121-773A5F16BFD4}"/>
              </a:ext>
            </a:extLst>
          </p:cNvPr>
          <p:cNvSpPr/>
          <p:nvPr/>
        </p:nvSpPr>
        <p:spPr>
          <a:xfrm>
            <a:off x="8956143" y="3469108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B466983-AED4-0F99-F2E7-C81B4F98787D}"/>
              </a:ext>
            </a:extLst>
          </p:cNvPr>
          <p:cNvSpPr txBox="1"/>
          <p:nvPr/>
        </p:nvSpPr>
        <p:spPr>
          <a:xfrm>
            <a:off x="6842886" y="4540490"/>
            <a:ext cx="4981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elvetica" pitchFamily="2" charset="0"/>
              </a:rPr>
              <a:t>Gradient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perspective: </a:t>
            </a:r>
            <a:r>
              <a:rPr kumimoji="1" lang="en-US" altLang="zh-CN" sz="1400" b="1" dirty="0">
                <a:solidFill>
                  <a:srgbClr val="FF0000"/>
                </a:solidFill>
                <a:latin typeface="Helvetica" pitchFamily="2" charset="0"/>
              </a:rPr>
              <a:t>gradient directions</a:t>
            </a:r>
            <a:r>
              <a:rPr kumimoji="1" lang="zh-CN" altLang="en-US" sz="1400" b="1" dirty="0">
                <a:solidFill>
                  <a:srgbClr val="FF0000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are</a:t>
            </a:r>
            <a:r>
              <a:rPr kumimoji="1" lang="zh-CN" altLang="en-US" sz="1400" dirty="0">
                <a:latin typeface="Helvetica" pitchFamily="2" charset="0"/>
              </a:rPr>
              <a:t> </a:t>
            </a:r>
            <a:r>
              <a:rPr kumimoji="1" lang="en-US" altLang="zh-CN" sz="1400" dirty="0">
                <a:latin typeface="Helvetica" pitchFamily="2" charset="0"/>
              </a:rPr>
              <a:t>different.  </a:t>
            </a:r>
            <a:endParaRPr kumimoji="1" lang="zh-CN" altLang="en-US" sz="1400" dirty="0">
              <a:latin typeface="Helvetica" pitchFamily="2" charset="0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19BF4A92-5226-79DB-AA82-008EFD36A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0412" y="3020200"/>
            <a:ext cx="987791" cy="987791"/>
          </a:xfrm>
          <a:prstGeom prst="rect">
            <a:avLst/>
          </a:prstGeom>
        </p:spPr>
      </p:pic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DE277220-2C7E-B7D5-06CA-6A4A8D3BCFEB}"/>
              </a:ext>
            </a:extLst>
          </p:cNvPr>
          <p:cNvCxnSpPr>
            <a:cxnSpLocks/>
          </p:cNvCxnSpPr>
          <p:nvPr/>
        </p:nvCxnSpPr>
        <p:spPr>
          <a:xfrm flipH="1" flipV="1">
            <a:off x="6919798" y="5118795"/>
            <a:ext cx="455222" cy="33568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0600BB2B-64BB-CA00-F4EA-5B47A73DF391}"/>
              </a:ext>
            </a:extLst>
          </p:cNvPr>
          <p:cNvCxnSpPr>
            <a:cxnSpLocks/>
          </p:cNvCxnSpPr>
          <p:nvPr/>
        </p:nvCxnSpPr>
        <p:spPr>
          <a:xfrm>
            <a:off x="7375020" y="5454479"/>
            <a:ext cx="568618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CEC31E74-DBF7-E63D-4849-68BD3145C7F0}"/>
              </a:ext>
            </a:extLst>
          </p:cNvPr>
          <p:cNvCxnSpPr>
            <a:cxnSpLocks/>
          </p:cNvCxnSpPr>
          <p:nvPr/>
        </p:nvCxnSpPr>
        <p:spPr>
          <a:xfrm flipH="1" flipV="1">
            <a:off x="8541674" y="5082855"/>
            <a:ext cx="455222" cy="33568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7076EB0E-1A80-033B-516A-A0CFEDE4C7EB}"/>
              </a:ext>
            </a:extLst>
          </p:cNvPr>
          <p:cNvCxnSpPr>
            <a:cxnSpLocks/>
          </p:cNvCxnSpPr>
          <p:nvPr/>
        </p:nvCxnSpPr>
        <p:spPr>
          <a:xfrm>
            <a:off x="8996896" y="5418539"/>
            <a:ext cx="568618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2ADE6F67-243F-5E9D-521B-479E042C5506}"/>
              </a:ext>
            </a:extLst>
          </p:cNvPr>
          <p:cNvCxnSpPr>
            <a:cxnSpLocks/>
          </p:cNvCxnSpPr>
          <p:nvPr/>
        </p:nvCxnSpPr>
        <p:spPr>
          <a:xfrm flipH="1" flipV="1">
            <a:off x="10168672" y="5047405"/>
            <a:ext cx="455222" cy="33568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50CDE23A-8258-D09A-78F7-45FF8F5FBCC5}"/>
              </a:ext>
            </a:extLst>
          </p:cNvPr>
          <p:cNvCxnSpPr>
            <a:cxnSpLocks/>
          </p:cNvCxnSpPr>
          <p:nvPr/>
        </p:nvCxnSpPr>
        <p:spPr>
          <a:xfrm>
            <a:off x="10623894" y="5383089"/>
            <a:ext cx="568618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E2191573-214A-C656-1706-2C0F875A079E}"/>
              </a:ext>
            </a:extLst>
          </p:cNvPr>
          <p:cNvSpPr txBox="1"/>
          <p:nvPr/>
        </p:nvSpPr>
        <p:spPr>
          <a:xfrm>
            <a:off x="7192491" y="5641634"/>
            <a:ext cx="4346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Helvetica" pitchFamily="2" charset="0"/>
              </a:rPr>
              <a:t>Conflicting</a:t>
            </a:r>
            <a:r>
              <a:rPr kumimoji="1" lang="en-US" altLang="zh-CN" sz="1600" dirty="0">
                <a:latin typeface="Helvetica" pitchFamily="2" charset="0"/>
              </a:rPr>
              <a:t> task pairs (inner product &lt; 0)</a:t>
            </a:r>
            <a:endParaRPr kumimoji="1" lang="zh-CN" altLang="en-US" sz="16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9391842D-B5C8-0ED1-7431-059CC92D26F1}"/>
                  </a:ext>
                </a:extLst>
              </p:cNvPr>
              <p:cNvSpPr txBox="1"/>
              <p:nvPr/>
            </p:nvSpPr>
            <p:spPr>
              <a:xfrm>
                <a:off x="6686947" y="5215247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9391842D-B5C8-0ED1-7431-059CC92D2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947" y="5215247"/>
                <a:ext cx="694152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13F1FDF-205A-F866-F727-8157B8E24E42}"/>
                  </a:ext>
                </a:extLst>
              </p:cNvPr>
              <p:cNvSpPr txBox="1"/>
              <p:nvPr/>
            </p:nvSpPr>
            <p:spPr>
              <a:xfrm>
                <a:off x="7272835" y="5050819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13F1FDF-205A-F866-F727-8157B8E24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835" y="5050819"/>
                <a:ext cx="694152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F5B9A307-F6A3-EDDD-53A4-D96CC0A05AFF}"/>
                  </a:ext>
                </a:extLst>
              </p:cNvPr>
              <p:cNvSpPr txBox="1"/>
              <p:nvPr/>
            </p:nvSpPr>
            <p:spPr>
              <a:xfrm>
                <a:off x="8302743" y="5156233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F5B9A307-F6A3-EDDD-53A4-D96CC0A05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743" y="5156233"/>
                <a:ext cx="694152" cy="369332"/>
              </a:xfrm>
              <a:prstGeom prst="rect">
                <a:avLst/>
              </a:prstGeom>
              <a:blipFill>
                <a:blip r:embed="rId10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9FAC5E0-A8CB-1047-7F87-0C110238F7BB}"/>
                  </a:ext>
                </a:extLst>
              </p:cNvPr>
              <p:cNvSpPr txBox="1"/>
              <p:nvPr/>
            </p:nvSpPr>
            <p:spPr>
              <a:xfrm>
                <a:off x="8896238" y="5025080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9FAC5E0-A8CB-1047-7F87-0C110238F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6238" y="5025080"/>
                <a:ext cx="694152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D12B4E1-002D-E2B7-DACF-83A580B89C1C}"/>
                  </a:ext>
                </a:extLst>
              </p:cNvPr>
              <p:cNvSpPr txBox="1"/>
              <p:nvPr/>
            </p:nvSpPr>
            <p:spPr>
              <a:xfrm>
                <a:off x="9999601" y="5169302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D12B4E1-002D-E2B7-DACF-83A580B8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601" y="5169302"/>
                <a:ext cx="694152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C9FF1AF7-067C-C0E3-5A77-DFE0BFDBDB30}"/>
                  </a:ext>
                </a:extLst>
              </p:cNvPr>
              <p:cNvSpPr txBox="1"/>
              <p:nvPr/>
            </p:nvSpPr>
            <p:spPr>
              <a:xfrm>
                <a:off x="10519641" y="5024176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C9FF1AF7-067C-C0E3-5A77-DFE0BFDBD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641" y="5024176"/>
                <a:ext cx="694152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文本框 86">
            <a:extLst>
              <a:ext uri="{FF2B5EF4-FFF2-40B4-BE49-F238E27FC236}">
                <a16:creationId xmlns:a16="http://schemas.microsoft.com/office/drawing/2014/main" id="{2D59F38C-B285-D9B3-71EC-0E9586F162CD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04/15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34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Methodology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EA382-00B3-08BD-6F63-56D911AD396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Gradient Magnitude Adjustment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586411-9BA4-4D05-D56E-F70238A3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845" y="3124316"/>
            <a:ext cx="3922310" cy="10090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C80002-3BDD-487F-2517-DD301F8D14EF}"/>
              </a:ext>
            </a:extLst>
          </p:cNvPr>
          <p:cNvSpPr txBox="1"/>
          <p:nvPr/>
        </p:nvSpPr>
        <p:spPr>
          <a:xfrm>
            <a:off x="724656" y="1765430"/>
            <a:ext cx="9615949" cy="11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Key: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ensure an appropriate level of magnitude balance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Arial" panose="020B0604020202020204" pitchFamily="34" charset="0"/>
              </a:rPr>
              <a:t>How: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align gradient norm with the maximum norm among tasks</a:t>
            </a:r>
            <a:r>
              <a:rPr kumimoji="1" lang="en-US" altLang="zh-CN" sz="2400" dirty="0">
                <a:latin typeface="Helvetica" pitchFamily="2" charset="0"/>
              </a:rPr>
              <a:t> 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5F929F-68C7-7D2D-092C-50156D8F91E8}"/>
              </a:ext>
            </a:extLst>
          </p:cNvPr>
          <p:cNvSpPr txBox="1"/>
          <p:nvPr/>
        </p:nvSpPr>
        <p:spPr>
          <a:xfrm>
            <a:off x="724656" y="5062704"/>
            <a:ext cx="9786673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</a:rPr>
              <a:t>M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itigate interference from magnitudes for subsequent manipulation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654CD1-F281-9CD7-90C8-8C802530EC57}"/>
                  </a:ext>
                </a:extLst>
              </p:cNvPr>
              <p:cNvSpPr txBox="1"/>
              <p:nvPr/>
            </p:nvSpPr>
            <p:spPr>
              <a:xfrm>
                <a:off x="2109282" y="3444179"/>
                <a:ext cx="222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solidFill>
                      <a:srgbClr val="FF0000"/>
                    </a:solidFill>
                    <a:latin typeface="Helvetica" pitchFamily="2" charset="0"/>
                  </a:rPr>
                  <a:t>For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b="1" dirty="0">
                    <a:solidFill>
                      <a:srgbClr val="FF0000"/>
                    </a:solidFill>
                    <a:latin typeface="Helvetica" pitchFamily="2" charset="0"/>
                  </a:rPr>
                  <a:t>in range(T):</a:t>
                </a:r>
                <a:endParaRPr kumimoji="1" lang="zh-CN" altLang="en-US" b="1" dirty="0">
                  <a:solidFill>
                    <a:srgbClr val="FF000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654CD1-F281-9CD7-90C8-8C802530E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282" y="3444179"/>
                <a:ext cx="2221906" cy="369332"/>
              </a:xfrm>
              <a:prstGeom prst="rect">
                <a:avLst/>
              </a:prstGeom>
              <a:blipFill>
                <a:blip r:embed="rId4"/>
                <a:stretch>
                  <a:fillRect l="-2286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3B855445-33E4-3734-841A-CAF6101DE5C3}"/>
              </a:ext>
            </a:extLst>
          </p:cNvPr>
          <p:cNvSpPr txBox="1"/>
          <p:nvPr/>
        </p:nvSpPr>
        <p:spPr>
          <a:xfrm>
            <a:off x="2681573" y="4122614"/>
            <a:ext cx="1948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Helvetica" pitchFamily="2" charset="0"/>
              </a:rPr>
              <a:t>Number of tasks</a:t>
            </a:r>
            <a:endParaRPr kumimoji="1" lang="zh-CN" altLang="en-US" sz="1600" dirty="0">
              <a:latin typeface="Helvetica" pitchFamily="2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1471B63A-3395-A219-271C-8D6C1270946D}"/>
              </a:ext>
            </a:extLst>
          </p:cNvPr>
          <p:cNvCxnSpPr/>
          <p:nvPr/>
        </p:nvCxnSpPr>
        <p:spPr>
          <a:xfrm>
            <a:off x="3777241" y="3813511"/>
            <a:ext cx="0" cy="319864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18631CF-DAE5-C576-4D8A-EC8352413DCC}"/>
              </a:ext>
            </a:extLst>
          </p:cNvPr>
          <p:cNvCxnSpPr/>
          <p:nvPr/>
        </p:nvCxnSpPr>
        <p:spPr>
          <a:xfrm>
            <a:off x="4928840" y="3813511"/>
            <a:ext cx="0" cy="319864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B86E9A3-AA3B-1F54-EAFD-9A4DF4134BDD}"/>
              </a:ext>
            </a:extLst>
          </p:cNvPr>
          <p:cNvSpPr txBox="1"/>
          <p:nvPr/>
        </p:nvSpPr>
        <p:spPr>
          <a:xfrm>
            <a:off x="4545267" y="4127139"/>
            <a:ext cx="5795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Hyper-parameter:</a:t>
            </a:r>
            <a:r>
              <a:rPr kumimoji="1" lang="zh-CN" altLang="en-US" sz="16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control</a:t>
            </a:r>
            <a:r>
              <a:rPr kumimoji="1" lang="zh-CN" altLang="en-US" sz="16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the</a:t>
            </a:r>
            <a:r>
              <a:rPr kumimoji="1" lang="zh-CN" altLang="en-US" sz="16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proximity</a:t>
            </a:r>
            <a:r>
              <a:rPr kumimoji="1" lang="zh-CN" altLang="en-US" sz="16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to</a:t>
            </a:r>
            <a:r>
              <a:rPr kumimoji="1" lang="zh-CN" altLang="en-US" sz="16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the</a:t>
            </a:r>
            <a:r>
              <a:rPr kumimoji="1" lang="zh-CN" altLang="en-US" sz="16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  <a:latin typeface="Helvetica" pitchFamily="2" charset="0"/>
              </a:rPr>
              <a:t>maximum norm </a:t>
            </a:r>
            <a:endParaRPr kumimoji="1" lang="zh-CN" altLang="en-US" sz="1600" dirty="0">
              <a:solidFill>
                <a:schemeClr val="accent1"/>
              </a:solidFill>
              <a:latin typeface="Helvetica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47E99B-5C8F-9B2E-0366-19636A51E168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05/15</a:t>
            </a:r>
            <a:endParaRPr kumimoji="1" lang="zh-CN" altLang="en-US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1882453-D68D-3387-F433-5868D2AA4CF0}"/>
                  </a:ext>
                </a:extLst>
              </p:cNvPr>
              <p:cNvSpPr txBox="1"/>
              <p:nvPr/>
            </p:nvSpPr>
            <p:spPr>
              <a:xfrm>
                <a:off x="5585337" y="4423786"/>
                <a:ext cx="475526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kumimoji="1"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Helvetica" pitchFamily="2" charset="0"/>
                  </a:rPr>
                  <a:t>: keep the original magnitude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τ</m:t>
                    </m:r>
                    <m:r>
                      <a:rPr kumimoji="1"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Helvetica" pitchFamily="2" charset="0"/>
                  </a:rPr>
                  <a:t>: equal the maximum norm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1882453-D68D-3387-F433-5868D2AA4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337" y="4423786"/>
                <a:ext cx="4755265" cy="584775"/>
              </a:xfrm>
              <a:prstGeom prst="rect">
                <a:avLst/>
              </a:prstGeom>
              <a:blipFill>
                <a:blip r:embed="rId5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523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平行四边形 62">
            <a:extLst>
              <a:ext uri="{FF2B5EF4-FFF2-40B4-BE49-F238E27FC236}">
                <a16:creationId xmlns:a16="http://schemas.microsoft.com/office/drawing/2014/main" id="{D124DEAB-82D1-EBC1-B839-B50E35C997E5}"/>
              </a:ext>
            </a:extLst>
          </p:cNvPr>
          <p:cNvSpPr/>
          <p:nvPr/>
        </p:nvSpPr>
        <p:spPr>
          <a:xfrm>
            <a:off x="4427674" y="4600003"/>
            <a:ext cx="3099172" cy="815638"/>
          </a:xfrm>
          <a:prstGeom prst="parallelogram">
            <a:avLst>
              <a:gd name="adj" fmla="val 100014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平行四边形 61">
            <a:extLst>
              <a:ext uri="{FF2B5EF4-FFF2-40B4-BE49-F238E27FC236}">
                <a16:creationId xmlns:a16="http://schemas.microsoft.com/office/drawing/2014/main" id="{2BE17149-F871-57D5-01C8-987B65BE3F70}"/>
              </a:ext>
            </a:extLst>
          </p:cNvPr>
          <p:cNvSpPr/>
          <p:nvPr/>
        </p:nvSpPr>
        <p:spPr>
          <a:xfrm>
            <a:off x="443569" y="4591406"/>
            <a:ext cx="3099172" cy="815638"/>
          </a:xfrm>
          <a:prstGeom prst="parallelogram">
            <a:avLst>
              <a:gd name="adj" fmla="val 100014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Methodology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EA382-00B3-08BD-6F63-56D911AD396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Gradient Direction Deconfliction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A22E0A-69C7-768B-B439-3C06F3B28476}"/>
              </a:ext>
            </a:extLst>
          </p:cNvPr>
          <p:cNvSpPr txBox="1"/>
          <p:nvPr/>
        </p:nvSpPr>
        <p:spPr>
          <a:xfrm>
            <a:off x="724656" y="1765430"/>
            <a:ext cx="9615949" cy="114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Key: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ensure </a:t>
            </a:r>
            <a:r>
              <a:rPr lang="en-US" altLang="zh-CN" sz="2400" dirty="0">
                <a:latin typeface="Arial" panose="020B0604020202020204" pitchFamily="34" charset="0"/>
              </a:rPr>
              <a:t>task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gradient does not conflict with other gradients</a:t>
            </a:r>
            <a:endParaRPr kumimoji="1" lang="en-US" altLang="zh-CN" sz="2400" dirty="0">
              <a:latin typeface="Helvetica" pitchFamily="2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Arial" panose="020B0604020202020204" pitchFamily="34" charset="0"/>
              </a:rPr>
              <a:t>How: </a:t>
            </a:r>
            <a:r>
              <a:rPr kumimoji="1" lang="en-US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global</a:t>
            </a:r>
            <a:r>
              <a:rPr kumimoji="1" lang="en-US" altLang="zh-CN" sz="2400" dirty="0">
                <a:latin typeface="Arial" panose="020B0604020202020204" pitchFamily="34" charset="0"/>
              </a:rPr>
              <a:t> g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radient projection</a:t>
            </a:r>
            <a:r>
              <a:rPr kumimoji="1" lang="en-US" altLang="zh-CN" sz="2400" dirty="0">
                <a:latin typeface="Helvetica" pitchFamily="2" charset="0"/>
              </a:rPr>
              <a:t>  </a:t>
            </a: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1D8875CB-1706-ACEC-FEC0-0494D6371E9F}"/>
              </a:ext>
            </a:extLst>
          </p:cNvPr>
          <p:cNvCxnSpPr>
            <a:cxnSpLocks/>
          </p:cNvCxnSpPr>
          <p:nvPr/>
        </p:nvCxnSpPr>
        <p:spPr>
          <a:xfrm flipV="1">
            <a:off x="6165435" y="3146796"/>
            <a:ext cx="0" cy="14580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96EAA7C-7486-8A2D-E27E-9E9A6775BF92}"/>
              </a:ext>
            </a:extLst>
          </p:cNvPr>
          <p:cNvCxnSpPr>
            <a:cxnSpLocks/>
          </p:cNvCxnSpPr>
          <p:nvPr/>
        </p:nvCxnSpPr>
        <p:spPr>
          <a:xfrm>
            <a:off x="6165435" y="4604894"/>
            <a:ext cx="14910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CA3D3A2-BDB4-729F-4590-C4DE6CB56A00}"/>
              </a:ext>
            </a:extLst>
          </p:cNvPr>
          <p:cNvCxnSpPr>
            <a:cxnSpLocks/>
          </p:cNvCxnSpPr>
          <p:nvPr/>
        </p:nvCxnSpPr>
        <p:spPr>
          <a:xfrm flipH="1">
            <a:off x="5325175" y="4604894"/>
            <a:ext cx="840260" cy="8402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9077003-0764-6812-8BFF-95D0FFBAE11F}"/>
              </a:ext>
            </a:extLst>
          </p:cNvPr>
          <p:cNvSpPr/>
          <p:nvPr/>
        </p:nvSpPr>
        <p:spPr>
          <a:xfrm>
            <a:off x="6214862" y="3374265"/>
            <a:ext cx="1210962" cy="121714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44BCB99-E201-BF9B-5666-A398EB6504E2}"/>
              </a:ext>
            </a:extLst>
          </p:cNvPr>
          <p:cNvCxnSpPr/>
          <p:nvPr/>
        </p:nvCxnSpPr>
        <p:spPr>
          <a:xfrm flipV="1">
            <a:off x="6165435" y="3653423"/>
            <a:ext cx="358346" cy="951471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2E2F54CC-6AD9-FFAD-CAB8-EC3B7B3088E1}"/>
              </a:ext>
            </a:extLst>
          </p:cNvPr>
          <p:cNvCxnSpPr>
            <a:cxnSpLocks/>
          </p:cNvCxnSpPr>
          <p:nvPr/>
        </p:nvCxnSpPr>
        <p:spPr>
          <a:xfrm flipV="1">
            <a:off x="6165435" y="4147694"/>
            <a:ext cx="897925" cy="4572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F094FAB-7CAE-0ADC-7A80-B1D57F679E58}"/>
              </a:ext>
            </a:extLst>
          </p:cNvPr>
          <p:cNvCxnSpPr>
            <a:cxnSpLocks/>
          </p:cNvCxnSpPr>
          <p:nvPr/>
        </p:nvCxnSpPr>
        <p:spPr>
          <a:xfrm flipH="1">
            <a:off x="5127467" y="4604894"/>
            <a:ext cx="1037968" cy="432486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B94D878-924E-6537-1E2A-9B325739159F}"/>
                  </a:ext>
                </a:extLst>
              </p:cNvPr>
              <p:cNvSpPr txBox="1"/>
              <p:nvPr/>
            </p:nvSpPr>
            <p:spPr>
              <a:xfrm>
                <a:off x="6165435" y="2998189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B94D878-924E-6537-1E2A-9B3257391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435" y="2998189"/>
                <a:ext cx="247828" cy="369332"/>
              </a:xfrm>
              <a:prstGeom prst="rect">
                <a:avLst/>
              </a:prstGeom>
              <a:blipFill>
                <a:blip r:embed="rId3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B31B0B9-A953-258A-5D08-AABC346E0B6D}"/>
                  </a:ext>
                </a:extLst>
              </p:cNvPr>
              <p:cNvSpPr txBox="1"/>
              <p:nvPr/>
            </p:nvSpPr>
            <p:spPr>
              <a:xfrm>
                <a:off x="7473248" y="4514494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B31B0B9-A953-258A-5D08-AABC346E0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248" y="4514494"/>
                <a:ext cx="247828" cy="369332"/>
              </a:xfrm>
              <a:prstGeom prst="rect">
                <a:avLst/>
              </a:prstGeom>
              <a:blipFill>
                <a:blip r:embed="rId4"/>
                <a:stretch>
                  <a:fillRect r="-1904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367128F-5C64-73A7-6986-DA23B2F98A38}"/>
                  </a:ext>
                </a:extLst>
              </p:cNvPr>
              <p:cNvSpPr txBox="1"/>
              <p:nvPr/>
            </p:nvSpPr>
            <p:spPr>
              <a:xfrm>
                <a:off x="5363678" y="5260487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367128F-5C64-73A7-6986-DA23B2F98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678" y="5260487"/>
                <a:ext cx="247828" cy="369332"/>
              </a:xfrm>
              <a:prstGeom prst="rect">
                <a:avLst/>
              </a:prstGeom>
              <a:blipFill>
                <a:blip r:embed="rId5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3BDFC97F-6CF7-7C68-4C90-2150F6EBC9DE}"/>
              </a:ext>
            </a:extLst>
          </p:cNvPr>
          <p:cNvCxnSpPr>
            <a:cxnSpLocks/>
          </p:cNvCxnSpPr>
          <p:nvPr/>
        </p:nvCxnSpPr>
        <p:spPr>
          <a:xfrm>
            <a:off x="5127467" y="5037380"/>
            <a:ext cx="617838" cy="0"/>
          </a:xfrm>
          <a:prstGeom prst="line">
            <a:avLst/>
          </a:prstGeom>
          <a:ln w="22225">
            <a:solidFill>
              <a:srgbClr val="7030A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5E1DBECD-A946-EA0D-1070-C339C7C15A16}"/>
              </a:ext>
            </a:extLst>
          </p:cNvPr>
          <p:cNvCxnSpPr>
            <a:cxnSpLocks/>
          </p:cNvCxnSpPr>
          <p:nvPr/>
        </p:nvCxnSpPr>
        <p:spPr>
          <a:xfrm flipV="1">
            <a:off x="4959768" y="4591406"/>
            <a:ext cx="1255094" cy="13488"/>
          </a:xfrm>
          <a:prstGeom prst="line">
            <a:avLst/>
          </a:prstGeom>
          <a:ln w="22225">
            <a:solidFill>
              <a:srgbClr val="7030A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6DE0C1E1-73D7-E0FF-0B6C-EFE02BF3FC8D}"/>
              </a:ext>
            </a:extLst>
          </p:cNvPr>
          <p:cNvCxnSpPr>
            <a:cxnSpLocks/>
          </p:cNvCxnSpPr>
          <p:nvPr/>
        </p:nvCxnSpPr>
        <p:spPr>
          <a:xfrm flipV="1">
            <a:off x="5127467" y="4598150"/>
            <a:ext cx="459848" cy="436968"/>
          </a:xfrm>
          <a:prstGeom prst="line">
            <a:avLst/>
          </a:prstGeom>
          <a:ln w="22225">
            <a:solidFill>
              <a:srgbClr val="7030A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576E3BE9-33F5-086E-FA7C-BED5F5A79744}"/>
              </a:ext>
            </a:extLst>
          </p:cNvPr>
          <p:cNvCxnSpPr>
            <a:cxnSpLocks/>
          </p:cNvCxnSpPr>
          <p:nvPr/>
        </p:nvCxnSpPr>
        <p:spPr>
          <a:xfrm flipH="1">
            <a:off x="5727773" y="4618382"/>
            <a:ext cx="427420" cy="416736"/>
          </a:xfrm>
          <a:prstGeom prst="straightConnector1">
            <a:avLst/>
          </a:prstGeom>
          <a:ln w="31750" cmpd="sng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A39DEAB0-3030-BF26-B7C7-C141C6F9A324}"/>
              </a:ext>
            </a:extLst>
          </p:cNvPr>
          <p:cNvCxnSpPr>
            <a:cxnSpLocks/>
          </p:cNvCxnSpPr>
          <p:nvPr/>
        </p:nvCxnSpPr>
        <p:spPr>
          <a:xfrm flipH="1">
            <a:off x="5552778" y="4586925"/>
            <a:ext cx="573737" cy="0"/>
          </a:xfrm>
          <a:prstGeom prst="straightConnector1">
            <a:avLst/>
          </a:prstGeom>
          <a:ln w="25400" cmpd="sng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3036E414-AC8F-04A5-51EE-B192A0D65096}"/>
              </a:ext>
            </a:extLst>
          </p:cNvPr>
          <p:cNvCxnSpPr>
            <a:cxnSpLocks/>
          </p:cNvCxnSpPr>
          <p:nvPr/>
        </p:nvCxnSpPr>
        <p:spPr>
          <a:xfrm flipV="1">
            <a:off x="2284355" y="3113076"/>
            <a:ext cx="0" cy="14580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98CE53B0-BA9E-7BCF-6276-2F9D1DDC3E41}"/>
              </a:ext>
            </a:extLst>
          </p:cNvPr>
          <p:cNvCxnSpPr>
            <a:cxnSpLocks/>
          </p:cNvCxnSpPr>
          <p:nvPr/>
        </p:nvCxnSpPr>
        <p:spPr>
          <a:xfrm>
            <a:off x="2284355" y="4571174"/>
            <a:ext cx="14910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6A21E9E4-DE70-B648-B886-2D1F4A3C9D52}"/>
              </a:ext>
            </a:extLst>
          </p:cNvPr>
          <p:cNvCxnSpPr>
            <a:cxnSpLocks/>
          </p:cNvCxnSpPr>
          <p:nvPr/>
        </p:nvCxnSpPr>
        <p:spPr>
          <a:xfrm flipH="1">
            <a:off x="1444095" y="4571174"/>
            <a:ext cx="840260" cy="8402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B86657CC-CBEB-7E88-A5B0-191D6A482978}"/>
              </a:ext>
            </a:extLst>
          </p:cNvPr>
          <p:cNvSpPr/>
          <p:nvPr/>
        </p:nvSpPr>
        <p:spPr>
          <a:xfrm>
            <a:off x="2333782" y="3340545"/>
            <a:ext cx="1210962" cy="121714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6CBD37E3-AC7F-15E3-9BEF-C1E2BBAB4601}"/>
              </a:ext>
            </a:extLst>
          </p:cNvPr>
          <p:cNvCxnSpPr>
            <a:cxnSpLocks/>
          </p:cNvCxnSpPr>
          <p:nvPr/>
        </p:nvCxnSpPr>
        <p:spPr>
          <a:xfrm flipV="1">
            <a:off x="2284355" y="3619703"/>
            <a:ext cx="358346" cy="951471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8ED05D5-1F49-CEA0-21F4-0B5B32885345}"/>
              </a:ext>
            </a:extLst>
          </p:cNvPr>
          <p:cNvCxnSpPr>
            <a:cxnSpLocks/>
          </p:cNvCxnSpPr>
          <p:nvPr/>
        </p:nvCxnSpPr>
        <p:spPr>
          <a:xfrm flipV="1">
            <a:off x="2284355" y="4113974"/>
            <a:ext cx="897925" cy="4572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A491D44-11A3-8976-2256-97EAE1BE007F}"/>
              </a:ext>
            </a:extLst>
          </p:cNvPr>
          <p:cNvCxnSpPr>
            <a:cxnSpLocks/>
          </p:cNvCxnSpPr>
          <p:nvPr/>
        </p:nvCxnSpPr>
        <p:spPr>
          <a:xfrm flipH="1">
            <a:off x="1246387" y="4571174"/>
            <a:ext cx="1037968" cy="432486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6B591B6A-B133-0F90-CC8F-69E3935F7C11}"/>
                  </a:ext>
                </a:extLst>
              </p:cNvPr>
              <p:cNvSpPr txBox="1"/>
              <p:nvPr/>
            </p:nvSpPr>
            <p:spPr>
              <a:xfrm>
                <a:off x="2284355" y="2964469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6B591B6A-B133-0F90-CC8F-69E3935F7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355" y="2964469"/>
                <a:ext cx="247828" cy="369332"/>
              </a:xfrm>
              <a:prstGeom prst="rect">
                <a:avLst/>
              </a:prstGeom>
              <a:blipFill>
                <a:blip r:embed="rId6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0659A1B-E3E7-86E7-1CCB-A79B9D16A1C5}"/>
                  </a:ext>
                </a:extLst>
              </p:cNvPr>
              <p:cNvSpPr txBox="1"/>
              <p:nvPr/>
            </p:nvSpPr>
            <p:spPr>
              <a:xfrm>
                <a:off x="3592168" y="4480774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0659A1B-E3E7-86E7-1CCB-A79B9D16A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168" y="4480774"/>
                <a:ext cx="247828" cy="369332"/>
              </a:xfrm>
              <a:prstGeom prst="rect">
                <a:avLst/>
              </a:prstGeom>
              <a:blipFill>
                <a:blip r:embed="rId7"/>
                <a:stretch>
                  <a:fillRect r="-19048"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6FC127F-F47A-8949-2F94-8E02FE572516}"/>
                  </a:ext>
                </a:extLst>
              </p:cNvPr>
              <p:cNvSpPr txBox="1"/>
              <p:nvPr/>
            </p:nvSpPr>
            <p:spPr>
              <a:xfrm>
                <a:off x="1482598" y="5226767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6FC127F-F47A-8949-2F94-8E02FE572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598" y="5226767"/>
                <a:ext cx="247828" cy="369332"/>
              </a:xfrm>
              <a:prstGeom prst="rect">
                <a:avLst/>
              </a:prstGeom>
              <a:blipFill>
                <a:blip r:embed="rId8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D35A599-82C2-9698-8274-8A0155FB625B}"/>
                  </a:ext>
                </a:extLst>
              </p:cNvPr>
              <p:cNvSpPr txBox="1"/>
              <p:nvPr/>
            </p:nvSpPr>
            <p:spPr>
              <a:xfrm>
                <a:off x="3046553" y="3882842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9D35A599-82C2-9698-8274-8A0155FB6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553" y="3882842"/>
                <a:ext cx="694152" cy="369332"/>
              </a:xfrm>
              <a:prstGeom prst="rect">
                <a:avLst/>
              </a:prstGeom>
              <a:blipFill>
                <a:blip r:embed="rId9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BB6B8D9-DBC5-249A-76DE-0968EB7FB44C}"/>
                  </a:ext>
                </a:extLst>
              </p:cNvPr>
              <p:cNvSpPr txBox="1"/>
              <p:nvPr/>
            </p:nvSpPr>
            <p:spPr>
              <a:xfrm>
                <a:off x="2526669" y="3337512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BB6B8D9-DBC5-249A-76DE-0968EB7FB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669" y="3337512"/>
                <a:ext cx="694152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DEEC48A-A85C-B07C-7876-12BBFAD40CE2}"/>
                  </a:ext>
                </a:extLst>
              </p:cNvPr>
              <p:cNvSpPr txBox="1"/>
              <p:nvPr/>
            </p:nvSpPr>
            <p:spPr>
              <a:xfrm>
                <a:off x="725230" y="4826750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DEEC48A-A85C-B07C-7876-12BBFAD40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30" y="4826750"/>
                <a:ext cx="694152" cy="369332"/>
              </a:xfrm>
              <a:prstGeom prst="rect">
                <a:avLst/>
              </a:prstGeom>
              <a:blipFill>
                <a:blip r:embed="rId11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0C273C9-7735-194D-F4B6-7F9F19774EF5}"/>
                  </a:ext>
                </a:extLst>
              </p:cNvPr>
              <p:cNvSpPr txBox="1"/>
              <p:nvPr/>
            </p:nvSpPr>
            <p:spPr>
              <a:xfrm>
                <a:off x="4634527" y="4782893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80C273C9-7735-194D-F4B6-7F9F19774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527" y="4782893"/>
                <a:ext cx="694152" cy="369332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FF7AB4F-F73A-4C58-2D73-7CF459DDE3DF}"/>
                  </a:ext>
                </a:extLst>
              </p:cNvPr>
              <p:cNvSpPr txBox="1"/>
              <p:nvPr/>
            </p:nvSpPr>
            <p:spPr>
              <a:xfrm>
                <a:off x="5724271" y="4806637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FF7AB4F-F73A-4C58-2D73-7CF459DDE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271" y="4806637"/>
                <a:ext cx="694152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20909269-7CFD-6F00-63BA-0E0AF5774606}"/>
                  </a:ext>
                </a:extLst>
              </p:cNvPr>
              <p:cNvSpPr txBox="1"/>
              <p:nvPr/>
            </p:nvSpPr>
            <p:spPr>
              <a:xfrm>
                <a:off x="5345784" y="4173812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20909269-7CFD-6F00-63BA-0E0AF5774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84" y="4173812"/>
                <a:ext cx="694152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331C2E4-3D51-FC21-A12B-ACA398B16C41}"/>
                  </a:ext>
                </a:extLst>
              </p:cNvPr>
              <p:cNvSpPr txBox="1"/>
              <p:nvPr/>
            </p:nvSpPr>
            <p:spPr>
              <a:xfrm>
                <a:off x="6372824" y="3337512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331C2E4-3D51-FC21-A12B-ACA398B16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824" y="3337512"/>
                <a:ext cx="694152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5ED9A6E-41CA-36E2-DE26-7B873BFBA67B}"/>
                  </a:ext>
                </a:extLst>
              </p:cNvPr>
              <p:cNvSpPr txBox="1"/>
              <p:nvPr/>
            </p:nvSpPr>
            <p:spPr>
              <a:xfrm>
                <a:off x="6875623" y="3882842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5ED9A6E-41CA-36E2-DE26-7B873BFBA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623" y="3882842"/>
                <a:ext cx="694152" cy="369332"/>
              </a:xfrm>
              <a:prstGeom prst="rect">
                <a:avLst/>
              </a:prstGeom>
              <a:blipFill>
                <a:blip r:embed="rId1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平行四边形 77">
            <a:extLst>
              <a:ext uri="{FF2B5EF4-FFF2-40B4-BE49-F238E27FC236}">
                <a16:creationId xmlns:a16="http://schemas.microsoft.com/office/drawing/2014/main" id="{83A776B5-DDFE-6485-1A64-8B682669AE3F}"/>
              </a:ext>
            </a:extLst>
          </p:cNvPr>
          <p:cNvSpPr/>
          <p:nvPr/>
        </p:nvSpPr>
        <p:spPr>
          <a:xfrm>
            <a:off x="8022423" y="4618382"/>
            <a:ext cx="3099172" cy="815638"/>
          </a:xfrm>
          <a:prstGeom prst="parallelogram">
            <a:avLst>
              <a:gd name="adj" fmla="val 100014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26940A6-8D67-8037-AE75-910A696FBAE5}"/>
              </a:ext>
            </a:extLst>
          </p:cNvPr>
          <p:cNvCxnSpPr>
            <a:cxnSpLocks/>
          </p:cNvCxnSpPr>
          <p:nvPr/>
        </p:nvCxnSpPr>
        <p:spPr>
          <a:xfrm flipV="1">
            <a:off x="9760184" y="3165175"/>
            <a:ext cx="0" cy="14580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AE358E9F-D90B-4234-48B8-E1E9108E4987}"/>
              </a:ext>
            </a:extLst>
          </p:cNvPr>
          <p:cNvCxnSpPr>
            <a:cxnSpLocks/>
          </p:cNvCxnSpPr>
          <p:nvPr/>
        </p:nvCxnSpPr>
        <p:spPr>
          <a:xfrm>
            <a:off x="9760184" y="4623273"/>
            <a:ext cx="14910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186629C2-5069-A52C-E307-453C024FB21F}"/>
              </a:ext>
            </a:extLst>
          </p:cNvPr>
          <p:cNvCxnSpPr>
            <a:cxnSpLocks/>
          </p:cNvCxnSpPr>
          <p:nvPr/>
        </p:nvCxnSpPr>
        <p:spPr>
          <a:xfrm flipH="1">
            <a:off x="8919924" y="4623273"/>
            <a:ext cx="840260" cy="8402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7FDDD655-5548-89C6-BE87-A483BC8E9B09}"/>
              </a:ext>
            </a:extLst>
          </p:cNvPr>
          <p:cNvSpPr/>
          <p:nvPr/>
        </p:nvSpPr>
        <p:spPr>
          <a:xfrm>
            <a:off x="9809611" y="3392644"/>
            <a:ext cx="1210962" cy="121714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9A346E9A-32B7-792F-3EF1-3D6F6610F14C}"/>
              </a:ext>
            </a:extLst>
          </p:cNvPr>
          <p:cNvCxnSpPr/>
          <p:nvPr/>
        </p:nvCxnSpPr>
        <p:spPr>
          <a:xfrm flipV="1">
            <a:off x="9760184" y="3671802"/>
            <a:ext cx="358346" cy="951471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C378A8DD-88F8-2E38-7C63-F38C04027BBF}"/>
              </a:ext>
            </a:extLst>
          </p:cNvPr>
          <p:cNvCxnSpPr>
            <a:cxnSpLocks/>
          </p:cNvCxnSpPr>
          <p:nvPr/>
        </p:nvCxnSpPr>
        <p:spPr>
          <a:xfrm flipV="1">
            <a:off x="9760184" y="4166073"/>
            <a:ext cx="897925" cy="4572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33248560-12FD-F3CA-A39C-7C75BC38E806}"/>
                  </a:ext>
                </a:extLst>
              </p:cNvPr>
              <p:cNvSpPr txBox="1"/>
              <p:nvPr/>
            </p:nvSpPr>
            <p:spPr>
              <a:xfrm>
                <a:off x="9760184" y="3016568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33248560-12FD-F3CA-A39C-7C75BC38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184" y="3016568"/>
                <a:ext cx="24782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7372C72-18D4-23D9-E027-4C3F86793612}"/>
                  </a:ext>
                </a:extLst>
              </p:cNvPr>
              <p:cNvSpPr txBox="1"/>
              <p:nvPr/>
            </p:nvSpPr>
            <p:spPr>
              <a:xfrm>
                <a:off x="11067997" y="4532873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7372C72-18D4-23D9-E027-4C3F86793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997" y="4532873"/>
                <a:ext cx="247828" cy="369332"/>
              </a:xfrm>
              <a:prstGeom prst="rect">
                <a:avLst/>
              </a:prstGeom>
              <a:blipFill>
                <a:blip r:embed="rId17"/>
                <a:stretch>
                  <a:fillRect r="-25000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5D00D346-E415-E4C4-74D4-F607034F7BBA}"/>
                  </a:ext>
                </a:extLst>
              </p:cNvPr>
              <p:cNvSpPr txBox="1"/>
              <p:nvPr/>
            </p:nvSpPr>
            <p:spPr>
              <a:xfrm>
                <a:off x="8958427" y="5278866"/>
                <a:ext cx="247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5D00D346-E415-E4C4-74D4-F607034F7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427" y="5278866"/>
                <a:ext cx="247828" cy="369332"/>
              </a:xfrm>
              <a:prstGeom prst="rect">
                <a:avLst/>
              </a:prstGeom>
              <a:blipFill>
                <a:blip r:embed="rId18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71C9CE41-0E4D-9FA1-A8B1-98DDE0F8BD8E}"/>
              </a:ext>
            </a:extLst>
          </p:cNvPr>
          <p:cNvCxnSpPr>
            <a:cxnSpLocks/>
          </p:cNvCxnSpPr>
          <p:nvPr/>
        </p:nvCxnSpPr>
        <p:spPr>
          <a:xfrm flipV="1">
            <a:off x="8554517" y="4609785"/>
            <a:ext cx="1255094" cy="13488"/>
          </a:xfrm>
          <a:prstGeom prst="line">
            <a:avLst/>
          </a:prstGeom>
          <a:ln w="22225">
            <a:solidFill>
              <a:srgbClr val="7030A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6DEC3E3D-41B7-BA66-B409-875CF7CCFE00}"/>
              </a:ext>
            </a:extLst>
          </p:cNvPr>
          <p:cNvCxnSpPr>
            <a:cxnSpLocks/>
          </p:cNvCxnSpPr>
          <p:nvPr/>
        </p:nvCxnSpPr>
        <p:spPr>
          <a:xfrm flipH="1">
            <a:off x="9322522" y="4636761"/>
            <a:ext cx="427420" cy="416736"/>
          </a:xfrm>
          <a:prstGeom prst="straightConnector1">
            <a:avLst/>
          </a:prstGeom>
          <a:ln w="31750" cmpd="sng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B2CEFB3-37EE-0575-9685-810C069F5E95}"/>
                  </a:ext>
                </a:extLst>
              </p:cNvPr>
              <p:cNvSpPr txBox="1"/>
              <p:nvPr/>
            </p:nvSpPr>
            <p:spPr>
              <a:xfrm>
                <a:off x="9319020" y="4825016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B2CEFB3-37EE-0575-9685-810C069F5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020" y="4825016"/>
                <a:ext cx="694152" cy="369332"/>
              </a:xfrm>
              <a:prstGeom prst="rect">
                <a:avLst/>
              </a:prstGeom>
              <a:blipFill>
                <a:blip r:embed="rId19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17709D4D-0620-882C-8B86-FAB6D47790EC}"/>
                  </a:ext>
                </a:extLst>
              </p:cNvPr>
              <p:cNvSpPr txBox="1"/>
              <p:nvPr/>
            </p:nvSpPr>
            <p:spPr>
              <a:xfrm>
                <a:off x="9967573" y="3355891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17709D4D-0620-882C-8B86-FAB6D4779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573" y="3355891"/>
                <a:ext cx="694152" cy="369332"/>
              </a:xfrm>
              <a:prstGeom prst="rect">
                <a:avLst/>
              </a:prstGeom>
              <a:blipFill>
                <a:blip r:embed="rId2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B7187EDB-2984-894B-FA58-C360D52AF2DA}"/>
                  </a:ext>
                </a:extLst>
              </p:cNvPr>
              <p:cNvSpPr txBox="1"/>
              <p:nvPr/>
            </p:nvSpPr>
            <p:spPr>
              <a:xfrm>
                <a:off x="10470372" y="3901221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B7187EDB-2984-894B-FA58-C360D52AF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372" y="3901221"/>
                <a:ext cx="694152" cy="369332"/>
              </a:xfrm>
              <a:prstGeom prst="rect">
                <a:avLst/>
              </a:prstGeom>
              <a:blipFill>
                <a:blip r:embed="rId2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D9EB81C5-F05D-AB57-6900-F45B58287A86}"/>
                  </a:ext>
                </a:extLst>
              </p:cNvPr>
              <p:cNvSpPr txBox="1"/>
              <p:nvPr/>
            </p:nvSpPr>
            <p:spPr>
              <a:xfrm>
                <a:off x="1482598" y="5751320"/>
                <a:ext cx="2568109" cy="680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D9EB81C5-F05D-AB57-6900-F45B5828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598" y="5751320"/>
                <a:ext cx="2568109" cy="68005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C499BF9F-7D1D-CCEF-A32A-7CBDEA4DF368}"/>
                  </a:ext>
                </a:extLst>
              </p:cNvPr>
              <p:cNvSpPr txBox="1"/>
              <p:nvPr/>
            </p:nvSpPr>
            <p:spPr>
              <a:xfrm>
                <a:off x="8465887" y="5751319"/>
                <a:ext cx="2568109" cy="651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C499BF9F-7D1D-CCEF-A32A-7CBDEA4DF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887" y="5751319"/>
                <a:ext cx="2568109" cy="651717"/>
              </a:xfrm>
              <a:prstGeom prst="rect">
                <a:avLst/>
              </a:prstGeom>
              <a:blipFill>
                <a:blip r:embed="rId2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文本框 101">
            <a:extLst>
              <a:ext uri="{FF2B5EF4-FFF2-40B4-BE49-F238E27FC236}">
                <a16:creationId xmlns:a16="http://schemas.microsoft.com/office/drawing/2014/main" id="{DAA0F463-7652-83A3-239D-5015627623D9}"/>
              </a:ext>
            </a:extLst>
          </p:cNvPr>
          <p:cNvSpPr txBox="1"/>
          <p:nvPr/>
        </p:nvSpPr>
        <p:spPr>
          <a:xfrm>
            <a:off x="4720748" y="5855606"/>
            <a:ext cx="3301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7030A0"/>
                </a:solidFill>
                <a:latin typeface="Arial" panose="020B0604020202020204" pitchFamily="34" charset="0"/>
              </a:rPr>
              <a:t>G</a:t>
            </a:r>
            <a:r>
              <a:rPr kumimoji="1" lang="en-US" altLang="zh-CN" sz="1800" b="1" dirty="0">
                <a:solidFill>
                  <a:srgbClr val="7030A0"/>
                </a:solidFill>
                <a:latin typeface="Arial" panose="020B0604020202020204" pitchFamily="34" charset="0"/>
              </a:rPr>
              <a:t>lobal g</a:t>
            </a:r>
            <a:r>
              <a:rPr lang="en-US" altLang="zh-CN" sz="18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radient projection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03" name="右箭头 102">
            <a:extLst>
              <a:ext uri="{FF2B5EF4-FFF2-40B4-BE49-F238E27FC236}">
                <a16:creationId xmlns:a16="http://schemas.microsoft.com/office/drawing/2014/main" id="{F562D1AF-5B8D-070E-E4FD-958D836BB4E6}"/>
              </a:ext>
            </a:extLst>
          </p:cNvPr>
          <p:cNvSpPr/>
          <p:nvPr/>
        </p:nvSpPr>
        <p:spPr>
          <a:xfrm>
            <a:off x="4214325" y="4260697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右箭头 103">
            <a:extLst>
              <a:ext uri="{FF2B5EF4-FFF2-40B4-BE49-F238E27FC236}">
                <a16:creationId xmlns:a16="http://schemas.microsoft.com/office/drawing/2014/main" id="{F61A8F92-95ED-A341-735F-A31E8FABFFF2}"/>
              </a:ext>
            </a:extLst>
          </p:cNvPr>
          <p:cNvSpPr/>
          <p:nvPr/>
        </p:nvSpPr>
        <p:spPr>
          <a:xfrm>
            <a:off x="8025515" y="4258422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1B74014-AA5A-FAAA-1F10-5B57C2BDB210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06/15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17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Methodology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EA382-00B3-08BD-6F63-56D911AD396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Gradient Direction Deconfliction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A22E0A-69C7-768B-B439-3C06F3B28476}"/>
              </a:ext>
            </a:extLst>
          </p:cNvPr>
          <p:cNvSpPr txBox="1"/>
          <p:nvPr/>
        </p:nvSpPr>
        <p:spPr>
          <a:xfrm>
            <a:off x="724656" y="1765430"/>
            <a:ext cx="10964836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dirty="0">
                <a:latin typeface="Helvetica" pitchFamily="2" charset="0"/>
              </a:rPr>
              <a:t>F</a:t>
            </a:r>
            <a:r>
              <a:rPr lang="en-US" altLang="zh-CN" sz="2400" b="0" i="0" u="none" strike="noStrike" dirty="0">
                <a:effectLst/>
                <a:latin typeface="Helvetica" pitchFamily="2" charset="0"/>
              </a:rPr>
              <a:t>or each task, our method 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Helvetica" pitchFamily="2" charset="0"/>
              </a:rPr>
              <a:t>simultaneously</a:t>
            </a:r>
            <a:r>
              <a:rPr lang="en-US" altLang="zh-CN" sz="2400" b="0" i="0" u="none" strike="noStrike" dirty="0">
                <a:effectLst/>
                <a:latin typeface="Helvetica" pitchFamily="2" charset="0"/>
              </a:rPr>
              <a:t> addresses all conflicting tasks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dirty="0">
                <a:latin typeface="Helvetica" pitchFamily="2" charset="0"/>
              </a:rPr>
              <a:t>Comparison: </a:t>
            </a:r>
            <a:r>
              <a:rPr kumimoji="1" lang="en-US" altLang="zh-CN" sz="2400" dirty="0" err="1">
                <a:latin typeface="Helvetica" pitchFamily="2" charset="0"/>
              </a:rPr>
              <a:t>PCGrad</a:t>
            </a:r>
            <a:r>
              <a:rPr kumimoji="1" lang="en-US" altLang="zh-CN" sz="2400" dirty="0">
                <a:latin typeface="Helvetica" pitchFamily="2" charset="0"/>
              </a:rPr>
              <a:t> [1] is </a:t>
            </a:r>
            <a:r>
              <a:rPr kumimoji="1" lang="en-US" altLang="zh-CN" sz="2400" b="1" u="sng" dirty="0">
                <a:latin typeface="Helvetica" pitchFamily="2" charset="0"/>
              </a:rPr>
              <a:t>one vs one</a:t>
            </a:r>
            <a:r>
              <a:rPr kumimoji="1" lang="en-US" altLang="zh-CN" sz="2400" dirty="0">
                <a:latin typeface="Helvetica" pitchFamily="2" charset="0"/>
              </a:rPr>
              <a:t>, our projection method is </a:t>
            </a:r>
            <a:r>
              <a:rPr kumimoji="1" lang="en-US" altLang="zh-CN" sz="2400" b="1" u="sng" dirty="0">
                <a:latin typeface="Helvetica" pitchFamily="2" charset="0"/>
              </a:rPr>
              <a:t>one vs all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dirty="0">
                <a:latin typeface="Helvetica" pitchFamily="2" charset="0"/>
              </a:rPr>
              <a:t>When only </a:t>
            </a:r>
            <a:r>
              <a:rPr kumimoji="1" lang="en-US" altLang="zh-CN" sz="2400" b="1" dirty="0">
                <a:latin typeface="Helvetica" pitchFamily="2" charset="0"/>
              </a:rPr>
              <a:t>two tasks: </a:t>
            </a:r>
            <a:r>
              <a:rPr kumimoji="1" lang="en-US" altLang="zh-CN" sz="2400" dirty="0">
                <a:latin typeface="Helvetica" pitchFamily="2" charset="0"/>
              </a:rPr>
              <a:t>our projection method </a:t>
            </a:r>
            <a:r>
              <a:rPr lang="en-US" altLang="zh-CN" sz="2400" b="0" i="0" u="none" strike="noStrike" dirty="0">
                <a:effectLst/>
                <a:latin typeface="Helvetica" pitchFamily="2" charset="0"/>
              </a:rPr>
              <a:t>degrades to </a:t>
            </a:r>
            <a:r>
              <a:rPr lang="en-US" altLang="zh-CN" sz="2400" b="0" i="0" u="none" strike="noStrike" dirty="0" err="1">
                <a:effectLst/>
                <a:latin typeface="Helvetica" pitchFamily="2" charset="0"/>
              </a:rPr>
              <a:t>PCGrad</a:t>
            </a:r>
            <a:endParaRPr lang="en-US" altLang="zh-CN" sz="2400" b="0" i="0" u="none" strike="noStrike" dirty="0">
              <a:effectLst/>
              <a:latin typeface="Helvetica" pitchFamily="2" charset="0"/>
            </a:endParaRP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6CBD37E3-AC7F-15E3-9BEF-C1E2BBAB4601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2589280" y="3950709"/>
            <a:ext cx="589390" cy="849508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A491D44-11A3-8976-2256-97EAE1BE007F}"/>
              </a:ext>
            </a:extLst>
          </p:cNvPr>
          <p:cNvCxnSpPr>
            <a:cxnSpLocks/>
          </p:cNvCxnSpPr>
          <p:nvPr/>
        </p:nvCxnSpPr>
        <p:spPr>
          <a:xfrm flipH="1">
            <a:off x="1537890" y="4802185"/>
            <a:ext cx="1051390" cy="0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BB6B8D9-DBC5-249A-76DE-0968EB7FB44C}"/>
                  </a:ext>
                </a:extLst>
              </p:cNvPr>
              <p:cNvSpPr txBox="1"/>
              <p:nvPr/>
            </p:nvSpPr>
            <p:spPr>
              <a:xfrm>
                <a:off x="2831594" y="3581377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BB6B8D9-DBC5-249A-76DE-0968EB7FB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594" y="3581377"/>
                <a:ext cx="694152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DEEC48A-A85C-B07C-7876-12BBFAD40CE2}"/>
                  </a:ext>
                </a:extLst>
              </p:cNvPr>
              <p:cNvSpPr txBox="1"/>
              <p:nvPr/>
            </p:nvSpPr>
            <p:spPr>
              <a:xfrm>
                <a:off x="1040141" y="4801529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DEEC48A-A85C-B07C-7876-12BBFAD40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141" y="4801529"/>
                <a:ext cx="69415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D9EB81C5-F05D-AB57-6900-F45B58287A86}"/>
                  </a:ext>
                </a:extLst>
              </p:cNvPr>
              <p:cNvSpPr txBox="1"/>
              <p:nvPr/>
            </p:nvSpPr>
            <p:spPr>
              <a:xfrm>
                <a:off x="903746" y="5562947"/>
                <a:ext cx="2568109" cy="373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D9EB81C5-F05D-AB57-6900-F45B5828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46" y="5562947"/>
                <a:ext cx="2568109" cy="373307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C499BF9F-7D1D-CCEF-A32A-7CBDEA4DF368}"/>
                  </a:ext>
                </a:extLst>
              </p:cNvPr>
              <p:cNvSpPr txBox="1"/>
              <p:nvPr/>
            </p:nvSpPr>
            <p:spPr>
              <a:xfrm>
                <a:off x="8977838" y="5508963"/>
                <a:ext cx="2568109" cy="373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C499BF9F-7D1D-CCEF-A32A-7CBDEA4DF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838" y="5508963"/>
                <a:ext cx="2568109" cy="373307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文本框 101">
            <a:extLst>
              <a:ext uri="{FF2B5EF4-FFF2-40B4-BE49-F238E27FC236}">
                <a16:creationId xmlns:a16="http://schemas.microsoft.com/office/drawing/2014/main" id="{DAA0F463-7652-83A3-239D-5015627623D9}"/>
              </a:ext>
            </a:extLst>
          </p:cNvPr>
          <p:cNvSpPr txBox="1"/>
          <p:nvPr/>
        </p:nvSpPr>
        <p:spPr>
          <a:xfrm>
            <a:off x="5647390" y="5553827"/>
            <a:ext cx="1154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 err="1">
                <a:solidFill>
                  <a:srgbClr val="7030A0"/>
                </a:solidFill>
                <a:latin typeface="Arial" panose="020B0604020202020204" pitchFamily="34" charset="0"/>
              </a:rPr>
              <a:t>PCGrad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03" name="右箭头 102">
            <a:extLst>
              <a:ext uri="{FF2B5EF4-FFF2-40B4-BE49-F238E27FC236}">
                <a16:creationId xmlns:a16="http://schemas.microsoft.com/office/drawing/2014/main" id="{F562D1AF-5B8D-070E-E4FD-958D836BB4E6}"/>
              </a:ext>
            </a:extLst>
          </p:cNvPr>
          <p:cNvSpPr/>
          <p:nvPr/>
        </p:nvSpPr>
        <p:spPr>
          <a:xfrm>
            <a:off x="4247362" y="4741897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右箭头 103">
            <a:extLst>
              <a:ext uri="{FF2B5EF4-FFF2-40B4-BE49-F238E27FC236}">
                <a16:creationId xmlns:a16="http://schemas.microsoft.com/office/drawing/2014/main" id="{F61A8F92-95ED-A341-735F-A31E8FABFFF2}"/>
              </a:ext>
            </a:extLst>
          </p:cNvPr>
          <p:cNvSpPr/>
          <p:nvPr/>
        </p:nvSpPr>
        <p:spPr>
          <a:xfrm>
            <a:off x="8058552" y="4739622"/>
            <a:ext cx="409659" cy="1683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1B74014-AA5A-FAAA-1F10-5B57C2BDB210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07/15</a:t>
            </a:r>
            <a:endParaRPr kumimoji="1" lang="zh-CN" altLang="en-US" dirty="0">
              <a:latin typeface="Helvetica" pitchFamily="2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4C28AA5F-7A93-0E2C-C6F1-69AFB6A0351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532696" y="3950709"/>
            <a:ext cx="589390" cy="850820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D063864-9A2E-CE67-E88B-9B5DB66B03EE}"/>
              </a:ext>
            </a:extLst>
          </p:cNvPr>
          <p:cNvCxnSpPr>
            <a:cxnSpLocks/>
          </p:cNvCxnSpPr>
          <p:nvPr/>
        </p:nvCxnSpPr>
        <p:spPr>
          <a:xfrm flipH="1">
            <a:off x="5481306" y="4802185"/>
            <a:ext cx="1051390" cy="0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96BCF48-132D-27A5-6537-14C8F7B1D0FA}"/>
                  </a:ext>
                </a:extLst>
              </p:cNvPr>
              <p:cNvSpPr txBox="1"/>
              <p:nvPr/>
            </p:nvSpPr>
            <p:spPr>
              <a:xfrm>
                <a:off x="6775010" y="3581377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96BCF48-132D-27A5-6537-14C8F7B1D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010" y="3581377"/>
                <a:ext cx="694152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ABCDF6-2AFC-D245-687A-6A9F55C1814A}"/>
                  </a:ext>
                </a:extLst>
              </p:cNvPr>
              <p:cNvSpPr txBox="1"/>
              <p:nvPr/>
            </p:nvSpPr>
            <p:spPr>
              <a:xfrm>
                <a:off x="4983557" y="4801529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ABCDF6-2AFC-D245-687A-6A9F55C18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557" y="4801529"/>
                <a:ext cx="694152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8158A63-581C-D1A1-C500-2C09ED12FC3C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0261893" y="4200898"/>
            <a:ext cx="589390" cy="850820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1D000F3-CBD1-9A83-5C85-5957356CCA09}"/>
                  </a:ext>
                </a:extLst>
              </p:cNvPr>
              <p:cNvSpPr txBox="1"/>
              <p:nvPr/>
            </p:nvSpPr>
            <p:spPr>
              <a:xfrm>
                <a:off x="10504207" y="3831566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1D000F3-CBD1-9A83-5C85-5957356CC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207" y="3831566"/>
                <a:ext cx="694152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FA048C9D-9154-731A-4EB4-A5DB6DBE399D}"/>
              </a:ext>
            </a:extLst>
          </p:cNvPr>
          <p:cNvCxnSpPr>
            <a:cxnSpLocks/>
          </p:cNvCxnSpPr>
          <p:nvPr/>
        </p:nvCxnSpPr>
        <p:spPr>
          <a:xfrm flipH="1">
            <a:off x="6163816" y="4801201"/>
            <a:ext cx="368880" cy="513873"/>
          </a:xfrm>
          <a:prstGeom prst="straightConnector1">
            <a:avLst/>
          </a:prstGeom>
          <a:ln w="317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6691BF4-74E7-1997-123D-FE6BC1C4C6B6}"/>
              </a:ext>
            </a:extLst>
          </p:cNvPr>
          <p:cNvCxnSpPr>
            <a:cxnSpLocks/>
          </p:cNvCxnSpPr>
          <p:nvPr/>
        </p:nvCxnSpPr>
        <p:spPr>
          <a:xfrm flipH="1" flipV="1">
            <a:off x="5813581" y="4307465"/>
            <a:ext cx="719115" cy="493736"/>
          </a:xfrm>
          <a:prstGeom prst="straightConnector1">
            <a:avLst/>
          </a:prstGeom>
          <a:ln w="317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A74AA5F-91CA-571D-F081-72B7AD9E424C}"/>
                  </a:ext>
                </a:extLst>
              </p:cNvPr>
              <p:cNvSpPr txBox="1"/>
              <p:nvPr/>
            </p:nvSpPr>
            <p:spPr>
              <a:xfrm>
                <a:off x="5573687" y="5130080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A74AA5F-91CA-571D-F081-72B7AD9E4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687" y="5130080"/>
                <a:ext cx="694152" cy="369332"/>
              </a:xfrm>
              <a:prstGeom prst="rect">
                <a:avLst/>
              </a:prstGeom>
              <a:blipFill>
                <a:blip r:embed="rId10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FA61368-A8B4-C2CB-09A4-561A75AAE5BF}"/>
                  </a:ext>
                </a:extLst>
              </p:cNvPr>
              <p:cNvSpPr txBox="1"/>
              <p:nvPr/>
            </p:nvSpPr>
            <p:spPr>
              <a:xfrm>
                <a:off x="5481306" y="3885445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FA61368-A8B4-C2CB-09A4-561A75AAE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306" y="3885445"/>
                <a:ext cx="694152" cy="369332"/>
              </a:xfrm>
              <a:prstGeom prst="rect">
                <a:avLst/>
              </a:prstGeom>
              <a:blipFill>
                <a:blip r:embed="rId1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C8F1CC09-3000-47BC-FBA7-20F9328C4AA4}"/>
              </a:ext>
            </a:extLst>
          </p:cNvPr>
          <p:cNvCxnSpPr>
            <a:cxnSpLocks/>
          </p:cNvCxnSpPr>
          <p:nvPr/>
        </p:nvCxnSpPr>
        <p:spPr>
          <a:xfrm flipH="1" flipV="1">
            <a:off x="9555259" y="4557654"/>
            <a:ext cx="719115" cy="493736"/>
          </a:xfrm>
          <a:prstGeom prst="straightConnector1">
            <a:avLst/>
          </a:prstGeom>
          <a:ln w="317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E02041B-426F-1B9D-D3B4-620761211052}"/>
                  </a:ext>
                </a:extLst>
              </p:cNvPr>
              <p:cNvSpPr txBox="1"/>
              <p:nvPr/>
            </p:nvSpPr>
            <p:spPr>
              <a:xfrm>
                <a:off x="9212152" y="4135634"/>
                <a:ext cx="694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E02041B-426F-1B9D-D3B4-62076121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152" y="4135634"/>
                <a:ext cx="694152" cy="369332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35614E21-C855-54FF-37CB-CE4FA6F2C4AB}"/>
              </a:ext>
            </a:extLst>
          </p:cNvPr>
          <p:cNvCxnSpPr>
            <a:cxnSpLocks/>
          </p:cNvCxnSpPr>
          <p:nvPr/>
        </p:nvCxnSpPr>
        <p:spPr>
          <a:xfrm flipV="1">
            <a:off x="5481306" y="4319779"/>
            <a:ext cx="332275" cy="483391"/>
          </a:xfrm>
          <a:prstGeom prst="line">
            <a:avLst/>
          </a:prstGeom>
          <a:ln w="22225">
            <a:solidFill>
              <a:schemeClr val="accent6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11B3B944-00C2-F245-7BC9-55D019C0C113}"/>
              </a:ext>
            </a:extLst>
          </p:cNvPr>
          <p:cNvCxnSpPr>
            <a:cxnSpLocks/>
          </p:cNvCxnSpPr>
          <p:nvPr/>
        </p:nvCxnSpPr>
        <p:spPr>
          <a:xfrm>
            <a:off x="5481306" y="4800217"/>
            <a:ext cx="682510" cy="514529"/>
          </a:xfrm>
          <a:prstGeom prst="line">
            <a:avLst/>
          </a:prstGeom>
          <a:ln w="22225">
            <a:solidFill>
              <a:schemeClr val="accent6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5ADF90B-570F-2064-2CC8-EF9714E847FA}"/>
              </a:ext>
            </a:extLst>
          </p:cNvPr>
          <p:cNvSpPr txBox="1"/>
          <p:nvPr/>
        </p:nvSpPr>
        <p:spPr>
          <a:xfrm>
            <a:off x="724656" y="6098690"/>
            <a:ext cx="7318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[1] Gradient Surgery for Multi-Task Learning.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NeuralIPS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2020.</a:t>
            </a:r>
          </a:p>
        </p:txBody>
      </p:sp>
    </p:spTree>
    <p:extLst>
      <p:ext uri="{BB962C8B-B14F-4D97-AF65-F5344CB8AC3E}">
        <p14:creationId xmlns:p14="http://schemas.microsoft.com/office/powerpoint/2010/main" val="215396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Methodology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EA382-00B3-08BD-6F63-56D911AD396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Gradient Direction Deconfliction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A22E0A-69C7-768B-B439-3C06F3B28476}"/>
              </a:ext>
            </a:extLst>
          </p:cNvPr>
          <p:cNvSpPr txBox="1"/>
          <p:nvPr/>
        </p:nvSpPr>
        <p:spPr>
          <a:xfrm>
            <a:off x="724656" y="1765430"/>
            <a:ext cx="9615949" cy="589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dirty="0">
                <a:latin typeface="Helvetica" pitchFamily="2" charset="0"/>
              </a:rPr>
              <a:t>Formulation of </a:t>
            </a:r>
            <a:r>
              <a:rPr kumimoji="1" lang="en-US" altLang="zh-CN" sz="2400" dirty="0">
                <a:latin typeface="Arial" panose="020B0604020202020204" pitchFamily="34" charset="0"/>
              </a:rPr>
              <a:t>global g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radient projection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288C05-FD51-29B1-AFE1-E6DAFD20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553" y="2842763"/>
            <a:ext cx="2675664" cy="3378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4CB955-C9F7-3EDF-D9E5-4BA41748B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810" y="3497604"/>
            <a:ext cx="3379150" cy="7581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49AC2C-5AC8-465F-A99E-AF17B5DB7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764" y="4791290"/>
            <a:ext cx="3175534" cy="7586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14DFA2-E19D-FBA4-278C-6E9F30A72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3454" y="5694796"/>
            <a:ext cx="2362200" cy="3342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753722D-4E2B-EF90-4813-791D1229FA31}"/>
              </a:ext>
            </a:extLst>
          </p:cNvPr>
          <p:cNvSpPr txBox="1"/>
          <p:nvPr/>
        </p:nvSpPr>
        <p:spPr>
          <a:xfrm>
            <a:off x="1170773" y="2843147"/>
            <a:ext cx="360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dirty="0">
                <a:latin typeface="Helvetica" pitchFamily="2" charset="0"/>
              </a:rPr>
              <a:t>Stack all conflicting gradients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ECAFF7-F02E-0F85-F175-70484D5C70D6}"/>
              </a:ext>
            </a:extLst>
          </p:cNvPr>
          <p:cNvSpPr txBox="1"/>
          <p:nvPr/>
        </p:nvSpPr>
        <p:spPr>
          <a:xfrm>
            <a:off x="1170772" y="3798524"/>
            <a:ext cx="360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dirty="0">
                <a:latin typeface="Helvetica" pitchFamily="2" charset="0"/>
              </a:rPr>
              <a:t>Set the projection target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AAF569-6B6E-853F-0575-9AF582C14524}"/>
              </a:ext>
            </a:extLst>
          </p:cNvPr>
          <p:cNvSpPr txBox="1"/>
          <p:nvPr/>
        </p:nvSpPr>
        <p:spPr>
          <a:xfrm>
            <a:off x="1170771" y="4945986"/>
            <a:ext cx="379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dirty="0">
                <a:latin typeface="Helvetica" pitchFamily="2" charset="0"/>
              </a:rPr>
              <a:t>Give the projection to the space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FB5781-066D-654B-8189-F48701AFAD20}"/>
              </a:ext>
            </a:extLst>
          </p:cNvPr>
          <p:cNvSpPr txBox="1"/>
          <p:nvPr/>
        </p:nvSpPr>
        <p:spPr>
          <a:xfrm>
            <a:off x="1170771" y="5669824"/>
            <a:ext cx="379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en-US" altLang="zh-CN" dirty="0">
                <a:latin typeface="Helvetica" pitchFamily="2" charset="0"/>
              </a:rPr>
              <a:t>Solve the weight vector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6238A14-05A2-EAC9-DF9D-A171CE1D4C1F}"/>
              </a:ext>
            </a:extLst>
          </p:cNvPr>
          <p:cNvSpPr/>
          <p:nvPr/>
        </p:nvSpPr>
        <p:spPr>
          <a:xfrm>
            <a:off x="880217" y="2674834"/>
            <a:ext cx="8263784" cy="346331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右弧形箭头 21">
            <a:extLst>
              <a:ext uri="{FF2B5EF4-FFF2-40B4-BE49-F238E27FC236}">
                <a16:creationId xmlns:a16="http://schemas.microsoft.com/office/drawing/2014/main" id="{F4C690DC-051B-70D0-6612-7C6644982F4B}"/>
              </a:ext>
            </a:extLst>
          </p:cNvPr>
          <p:cNvSpPr/>
          <p:nvPr/>
        </p:nvSpPr>
        <p:spPr>
          <a:xfrm>
            <a:off x="9191240" y="3666694"/>
            <a:ext cx="920928" cy="1672839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72486F8-5018-99A2-5683-8BCAE1410A56}"/>
                  </a:ext>
                </a:extLst>
              </p:cNvPr>
              <p:cNvSpPr txBox="1"/>
              <p:nvPr/>
            </p:nvSpPr>
            <p:spPr>
              <a:xfrm>
                <a:off x="10159407" y="3613858"/>
                <a:ext cx="16849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Helvetica" pitchFamily="2" charset="0"/>
                  </a:rPr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zh-CN" altLang="en-US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72486F8-5018-99A2-5683-8BCAE1410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407" y="3613858"/>
                <a:ext cx="1684947" cy="369332"/>
              </a:xfrm>
              <a:prstGeom prst="rect">
                <a:avLst/>
              </a:prstGeom>
              <a:blipFill>
                <a:blip r:embed="rId7"/>
                <a:stretch>
                  <a:fillRect l="-3759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1EC8E85-53A2-5F5F-DB15-B154B49D99DD}"/>
                  </a:ext>
                </a:extLst>
              </p:cNvPr>
              <p:cNvSpPr txBox="1"/>
              <p:nvPr/>
            </p:nvSpPr>
            <p:spPr>
              <a:xfrm>
                <a:off x="10112168" y="4945986"/>
                <a:ext cx="1937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Helvetica" pitchFamily="2" charset="0"/>
                  </a:rPr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zh-CN" altLang="en-US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1EC8E85-53A2-5F5F-DB15-B154B49D9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2168" y="4945986"/>
                <a:ext cx="1937402" cy="369332"/>
              </a:xfrm>
              <a:prstGeom prst="rect">
                <a:avLst/>
              </a:prstGeom>
              <a:blipFill>
                <a:blip r:embed="rId8"/>
                <a:stretch>
                  <a:fillRect l="-2614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6ACD179-CDA3-2BC3-C705-FEFDBA7FF673}"/>
                  </a:ext>
                </a:extLst>
              </p:cNvPr>
              <p:cNvSpPr txBox="1"/>
              <p:nvPr/>
            </p:nvSpPr>
            <p:spPr>
              <a:xfrm>
                <a:off x="9229652" y="2891902"/>
                <a:ext cx="222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solidFill>
                      <a:srgbClr val="FF0000"/>
                    </a:solidFill>
                    <a:latin typeface="Helvetica" pitchFamily="2" charset="0"/>
                  </a:rPr>
                  <a:t>For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b="1" dirty="0">
                    <a:solidFill>
                      <a:srgbClr val="FF0000"/>
                    </a:solidFill>
                    <a:latin typeface="Helvetica" pitchFamily="2" charset="0"/>
                  </a:rPr>
                  <a:t>in range(T):</a:t>
                </a:r>
                <a:endParaRPr kumimoji="1" lang="zh-CN" altLang="en-US" b="1" dirty="0">
                  <a:solidFill>
                    <a:srgbClr val="FF0000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6ACD179-CDA3-2BC3-C705-FEFDBA7F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652" y="2891902"/>
                <a:ext cx="2221906" cy="369332"/>
              </a:xfrm>
              <a:prstGeom prst="rect">
                <a:avLst/>
              </a:prstGeom>
              <a:blipFill>
                <a:blip r:embed="rId9"/>
                <a:stretch>
                  <a:fillRect l="-2273"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2C9CC40F-EAC3-DE52-5C3D-929B6EBCDDEB}"/>
              </a:ext>
            </a:extLst>
          </p:cNvPr>
          <p:cNvSpPr txBox="1"/>
          <p:nvPr/>
        </p:nvSpPr>
        <p:spPr>
          <a:xfrm>
            <a:off x="5031488" y="4328425"/>
            <a:ext cx="4112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accent1"/>
                </a:solidFill>
                <a:latin typeface="Helvetica" pitchFamily="2" charset="0"/>
              </a:rPr>
              <a:t>Hyper-parameter:</a:t>
            </a:r>
            <a:r>
              <a:rPr kumimoji="1" lang="zh-CN" altLang="en-US" sz="14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Helvetica" pitchFamily="2" charset="0"/>
              </a:rPr>
              <a:t>allow</a:t>
            </a:r>
            <a:r>
              <a:rPr kumimoji="1" lang="zh-CN" altLang="en-US" sz="14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Helvetica" pitchFamily="2" charset="0"/>
              </a:rPr>
              <a:t>the</a:t>
            </a:r>
            <a:r>
              <a:rPr kumimoji="1" lang="zh-CN" altLang="en-US" sz="14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Helvetica" pitchFamily="2" charset="0"/>
              </a:rPr>
              <a:t>positive</a:t>
            </a:r>
            <a:r>
              <a:rPr kumimoji="1" lang="zh-CN" altLang="en-US" sz="14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Helvetica" pitchFamily="2" charset="0"/>
              </a:rPr>
              <a:t>inner</a:t>
            </a:r>
            <a:r>
              <a:rPr kumimoji="1" lang="zh-CN" altLang="en-US" sz="1400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kumimoji="1" lang="en-US" altLang="zh-CN" sz="1400" dirty="0">
                <a:solidFill>
                  <a:schemeClr val="accent1"/>
                </a:solidFill>
                <a:latin typeface="Helvetica" pitchFamily="2" charset="0"/>
              </a:rPr>
              <a:t>product</a:t>
            </a:r>
            <a:endParaRPr kumimoji="1" lang="zh-CN" altLang="en-US" sz="1400" dirty="0">
              <a:solidFill>
                <a:schemeClr val="accent1"/>
              </a:solidFill>
              <a:latin typeface="Helvetica" pitchFamily="2" charset="0"/>
            </a:endParaRP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8756CA0E-8EFB-810A-EE1B-F968E1905886}"/>
              </a:ext>
            </a:extLst>
          </p:cNvPr>
          <p:cNvCxnSpPr/>
          <p:nvPr/>
        </p:nvCxnSpPr>
        <p:spPr>
          <a:xfrm>
            <a:off x="6096000" y="4095785"/>
            <a:ext cx="0" cy="319864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345B7770-28D2-01A3-D5E6-2B651932CD25}"/>
              </a:ext>
            </a:extLst>
          </p:cNvPr>
          <p:cNvCxnSpPr>
            <a:cxnSpLocks/>
          </p:cNvCxnSpPr>
          <p:nvPr/>
        </p:nvCxnSpPr>
        <p:spPr>
          <a:xfrm>
            <a:off x="895310" y="3346828"/>
            <a:ext cx="8248691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6CC5A568-0ACD-E1E9-1208-0C25CEE7327D}"/>
              </a:ext>
            </a:extLst>
          </p:cNvPr>
          <p:cNvCxnSpPr>
            <a:cxnSpLocks/>
          </p:cNvCxnSpPr>
          <p:nvPr/>
        </p:nvCxnSpPr>
        <p:spPr>
          <a:xfrm>
            <a:off x="880217" y="4760029"/>
            <a:ext cx="8248691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68EBDDD9-2547-8733-43C6-B2C08D64378F}"/>
              </a:ext>
            </a:extLst>
          </p:cNvPr>
          <p:cNvCxnSpPr>
            <a:cxnSpLocks/>
          </p:cNvCxnSpPr>
          <p:nvPr/>
        </p:nvCxnSpPr>
        <p:spPr>
          <a:xfrm>
            <a:off x="942549" y="5588607"/>
            <a:ext cx="8248691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9DFC148C-ADE5-C037-2565-E1F26E3EF490}"/>
              </a:ext>
            </a:extLst>
          </p:cNvPr>
          <p:cNvCxnSpPr>
            <a:cxnSpLocks/>
            <a:stCxn id="19" idx="0"/>
            <a:endCxn id="19" idx="2"/>
          </p:cNvCxnSpPr>
          <p:nvPr/>
        </p:nvCxnSpPr>
        <p:spPr>
          <a:xfrm>
            <a:off x="5012109" y="2674834"/>
            <a:ext cx="0" cy="346331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B75C6251-A56F-1D9A-14CF-BB7888EA6017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08/15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026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Methodology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EA382-00B3-08BD-6F63-56D911AD396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Overall Framework of </a:t>
            </a:r>
            <a:r>
              <a:rPr kumimoji="1" lang="en-US" altLang="zh-CN" sz="3200" dirty="0" err="1">
                <a:latin typeface="Helvetica" pitchFamily="2" charset="0"/>
              </a:rPr>
              <a:t>GradCraft</a:t>
            </a:r>
            <a:endParaRPr kumimoji="1" lang="en-US" altLang="zh-CN" sz="32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ACCB1F2-6B98-7A7D-B781-3F61494296AD}"/>
                  </a:ext>
                </a:extLst>
              </p:cNvPr>
              <p:cNvSpPr txBox="1"/>
              <p:nvPr/>
            </p:nvSpPr>
            <p:spPr>
              <a:xfrm>
                <a:off x="724656" y="1765430"/>
                <a:ext cx="9615949" cy="358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en-US" altLang="zh-CN" sz="2400" dirty="0">
                    <a:latin typeface="Helvetica" pitchFamily="2" charset="0"/>
                  </a:rPr>
                  <a:t>1. Compute all task losses,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latin typeface="Helvetica" pitchFamily="2" charset="0"/>
                  </a:rPr>
                  <a:t>]</a:t>
                </a:r>
              </a:p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en-US" altLang="zh-CN" sz="2400" dirty="0">
                    <a:latin typeface="Helvetica" pitchFamily="2" charset="0"/>
                  </a:rPr>
                  <a:t>2. </a:t>
                </a:r>
                <a:r>
                  <a:rPr kumimoji="1" lang="en-US" altLang="zh-CN" sz="2400" dirty="0">
                    <a:latin typeface="Arial" panose="020B0604020202020204" pitchFamily="34" charset="0"/>
                  </a:rPr>
                  <a:t>Obtain all task gradients,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en-US" altLang="zh-CN" sz="2400" dirty="0">
                  <a:latin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en-US" altLang="zh-CN" sz="2400" dirty="0">
                    <a:latin typeface="Arial" panose="020B0604020202020204" pitchFamily="34" charset="0"/>
                  </a:rPr>
                  <a:t>3. Gradient magnitude adjustment,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en-US" altLang="zh-CN" sz="2400" dirty="0">
                  <a:latin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en-US" altLang="zh-CN" sz="2400" dirty="0">
                    <a:latin typeface="Arial" panose="020B0604020202020204" pitchFamily="34" charset="0"/>
                  </a:rPr>
                  <a:t>4. Gradient </a:t>
                </a:r>
                <a:r>
                  <a:rPr kumimoji="1" lang="en-US" altLang="zh-CN" sz="2400" dirty="0">
                    <a:latin typeface="Helvetica" pitchFamily="2" charset="0"/>
                  </a:rPr>
                  <a:t>direction deconfliction,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en-US" altLang="zh-CN" sz="2400" dirty="0">
                  <a:latin typeface="Helvetica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en-US" altLang="zh-CN" sz="2400" dirty="0">
                    <a:latin typeface="Helvetica" pitchFamily="2" charset="0"/>
                  </a:rPr>
                  <a:t>5. Gradient combination, just average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zh-CN" sz="2400" dirty="0">
                  <a:latin typeface="Helvetica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itchFamily="2" charset="2"/>
                  <a:buChar char="p"/>
                </a:pPr>
                <a:r>
                  <a:rPr kumimoji="1" lang="en-US" altLang="zh-CN" sz="2400" dirty="0">
                    <a:latin typeface="Helvetica" pitchFamily="2" charset="0"/>
                  </a:rPr>
                  <a:t>6. Gradient update</a:t>
                </a:r>
                <a:r>
                  <a:rPr kumimoji="1" lang="en-US" altLang="zh-CN" sz="2400" dirty="0">
                    <a:latin typeface="Arial" panose="020B0604020202020204" pitchFamily="34" charset="0"/>
                  </a:rPr>
                  <a:t> by the optimizer (shared parameters)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ACCB1F2-6B98-7A7D-B781-3F6149429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56" y="1765430"/>
                <a:ext cx="9615949" cy="3587777"/>
              </a:xfrm>
              <a:prstGeom prst="rect">
                <a:avLst/>
              </a:prstGeom>
              <a:blipFill>
                <a:blip r:embed="rId3"/>
                <a:stretch>
                  <a:fillRect l="-923" b="-6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E4CD6B5B-34C5-71F5-86D3-9FD57B84AF7C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09/15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64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Experiment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2DA175-69E7-B3E9-17C1-CED460F5FF8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Offline Experiment Setting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6B6EAE-A2F3-BADE-0A56-B2AD84C0011B}"/>
              </a:ext>
            </a:extLst>
          </p:cNvPr>
          <p:cNvSpPr txBox="1"/>
          <p:nvPr/>
        </p:nvSpPr>
        <p:spPr>
          <a:xfrm>
            <a:off x="724656" y="1765430"/>
            <a:ext cx="11239456" cy="420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b="1" dirty="0">
                <a:latin typeface="Helvetica" pitchFamily="2" charset="0"/>
              </a:rPr>
              <a:t>Dataset:</a:t>
            </a:r>
            <a:r>
              <a:rPr kumimoji="1" lang="en-US" altLang="zh-CN" sz="2000" dirty="0">
                <a:latin typeface="Helvetica" pitchFamily="2" charset="0"/>
              </a:rPr>
              <a:t> Kuaishou (private), </a:t>
            </a:r>
            <a:r>
              <a:rPr kumimoji="1" lang="en-US" altLang="zh-CN" sz="2000" dirty="0" err="1">
                <a:latin typeface="Helvetica" pitchFamily="2" charset="0"/>
              </a:rPr>
              <a:t>Wechat</a:t>
            </a:r>
            <a:r>
              <a:rPr kumimoji="1" lang="en-US" altLang="zh-CN" sz="2000" dirty="0">
                <a:latin typeface="Helvetica" pitchFamily="2" charset="0"/>
              </a:rPr>
              <a:t> (public)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b="1" dirty="0">
                <a:latin typeface="Arial" panose="020B0604020202020204" pitchFamily="34" charset="0"/>
              </a:rPr>
              <a:t>Task (Binary for simplicity):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u="sng" dirty="0">
                <a:latin typeface="Arial" panose="020B0604020202020204" pitchFamily="34" charset="0"/>
              </a:rPr>
              <a:t>Viewing behavior</a:t>
            </a:r>
            <a:r>
              <a:rPr kumimoji="1" lang="en-US" altLang="zh-CN" sz="2000" dirty="0">
                <a:latin typeface="Arial" panose="020B0604020202020204" pitchFamily="34" charset="0"/>
              </a:rPr>
              <a:t>: </a:t>
            </a:r>
            <a:r>
              <a:rPr kumimoji="1" lang="en-US" altLang="zh-CN" sz="2000" dirty="0" err="1">
                <a:latin typeface="Arial" panose="020B0604020202020204" pitchFamily="34" charset="0"/>
              </a:rPr>
              <a:t>EffectiveView</a:t>
            </a:r>
            <a:r>
              <a:rPr kumimoji="1" lang="en-US" altLang="zh-CN" sz="2000" dirty="0">
                <a:latin typeface="Arial" panose="020B0604020202020204" pitchFamily="34" charset="0"/>
              </a:rPr>
              <a:t> (EV), </a:t>
            </a:r>
            <a:r>
              <a:rPr kumimoji="1" lang="en-US" altLang="zh-CN" sz="2000" dirty="0" err="1">
                <a:latin typeface="Arial" panose="020B0604020202020204" pitchFamily="34" charset="0"/>
              </a:rPr>
              <a:t>LongView</a:t>
            </a:r>
            <a:r>
              <a:rPr kumimoji="1" lang="en-US" altLang="zh-CN" sz="2000" dirty="0">
                <a:latin typeface="Arial" panose="020B0604020202020204" pitchFamily="34" charset="0"/>
              </a:rPr>
              <a:t> (LV), </a:t>
            </a:r>
            <a:r>
              <a:rPr kumimoji="1" lang="en-US" altLang="zh-CN" sz="2000" dirty="0" err="1">
                <a:latin typeface="Arial" panose="020B0604020202020204" pitchFamily="34" charset="0"/>
              </a:rPr>
              <a:t>CompleteView</a:t>
            </a:r>
            <a:r>
              <a:rPr kumimoji="1" lang="en-US" altLang="zh-CN" sz="2000" dirty="0">
                <a:latin typeface="Arial" panose="020B0604020202020204" pitchFamily="34" charset="0"/>
              </a:rPr>
              <a:t> (CV)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u="sng" dirty="0">
                <a:latin typeface="Arial" panose="020B0604020202020204" pitchFamily="34" charset="0"/>
              </a:rPr>
              <a:t>Engagement behavior</a:t>
            </a:r>
            <a:r>
              <a:rPr kumimoji="1" lang="en-US" altLang="zh-CN" sz="2000" dirty="0">
                <a:latin typeface="Arial" panose="020B0604020202020204" pitchFamily="34" charset="0"/>
              </a:rPr>
              <a:t>: Like, Follow, Forward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b="1" dirty="0">
                <a:latin typeface="Arial" panose="020B0604020202020204" pitchFamily="34" charset="0"/>
              </a:rPr>
              <a:t>Evaluation: </a:t>
            </a:r>
            <a:r>
              <a:rPr kumimoji="1" lang="en-US" altLang="zh-CN" sz="2000" dirty="0">
                <a:latin typeface="Arial" panose="020B0604020202020204" pitchFamily="34" charset="0"/>
              </a:rPr>
              <a:t>average value of all tasks’ AUC and GAUC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b="1" dirty="0">
                <a:latin typeface="Arial" panose="020B0604020202020204" pitchFamily="34" charset="0"/>
              </a:rPr>
              <a:t>Baseline: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dirty="0">
                <a:latin typeface="Arial" panose="020B0604020202020204" pitchFamily="34" charset="0"/>
              </a:rPr>
              <a:t>Simple: Single, </a:t>
            </a:r>
            <a:r>
              <a:rPr kumimoji="1" lang="en-US" altLang="zh-CN" sz="2000" dirty="0" err="1">
                <a:latin typeface="Arial" panose="020B0604020202020204" pitchFamily="34" charset="0"/>
              </a:rPr>
              <a:t>EqualWeighting</a:t>
            </a:r>
            <a:endParaRPr kumimoji="1" lang="en-US" altLang="zh-CN" sz="2000" dirty="0">
              <a:latin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dirty="0">
                <a:latin typeface="Arial" panose="020B0604020202020204" pitchFamily="34" charset="0"/>
              </a:rPr>
              <a:t>Other multi-task learning methods like Uncertainty and </a:t>
            </a:r>
            <a:r>
              <a:rPr kumimoji="1" lang="en-US" altLang="zh-CN" sz="2000" dirty="0" err="1">
                <a:latin typeface="Arial" panose="020B0604020202020204" pitchFamily="34" charset="0"/>
              </a:rPr>
              <a:t>PCGrad</a:t>
            </a:r>
            <a:endParaRPr kumimoji="1" lang="en-US" altLang="zh-CN" sz="20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000" b="1" dirty="0">
                <a:latin typeface="Helvetica" pitchFamily="2" charset="0"/>
              </a:rPr>
              <a:t>Backbone</a:t>
            </a:r>
            <a:r>
              <a:rPr kumimoji="1" lang="en-US" altLang="zh-CN" sz="2000" dirty="0">
                <a:latin typeface="Helvetica" pitchFamily="2" charset="0"/>
              </a:rPr>
              <a:t>: PLE [1]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96C6AF-2FDF-97B6-795E-EC7CC3DD807D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10/15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41230F-1486-D03B-F13F-483BCE929874}"/>
              </a:ext>
            </a:extLst>
          </p:cNvPr>
          <p:cNvSpPr txBox="1"/>
          <p:nvPr/>
        </p:nvSpPr>
        <p:spPr>
          <a:xfrm>
            <a:off x="724656" y="6098690"/>
            <a:ext cx="10599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[1] Progressive layered extraction 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ple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): A novel multi-task learning 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mtl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) model for personalized recommendations.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RecSys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 2020.</a:t>
            </a:r>
          </a:p>
        </p:txBody>
      </p:sp>
    </p:spTree>
    <p:extLst>
      <p:ext uri="{BB962C8B-B14F-4D97-AF65-F5344CB8AC3E}">
        <p14:creationId xmlns:p14="http://schemas.microsoft.com/office/powerpoint/2010/main" val="1822858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Experiment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2DA175-69E7-B3E9-17C1-CED460F5FF8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Offline Experiment Result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A6F9D0-5BCE-B0DA-0E7B-7DD9B763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11" y="1865972"/>
            <a:ext cx="10566778" cy="40147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E2F81EC-E910-F5E9-8BE2-36AF7B1055C8}"/>
              </a:ext>
            </a:extLst>
          </p:cNvPr>
          <p:cNvSpPr/>
          <p:nvPr/>
        </p:nvSpPr>
        <p:spPr>
          <a:xfrm>
            <a:off x="10367319" y="3626777"/>
            <a:ext cx="934254" cy="462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AF00DB-E1C3-764D-7DCB-A1E68BCE2959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11/15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543131-DAC9-4A3B-FF99-D6F9D4FDEF6A}"/>
              </a:ext>
            </a:extLst>
          </p:cNvPr>
          <p:cNvSpPr/>
          <p:nvPr/>
        </p:nvSpPr>
        <p:spPr>
          <a:xfrm>
            <a:off x="10376864" y="5387582"/>
            <a:ext cx="934254" cy="462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053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Experiment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2DA175-69E7-B3E9-17C1-CED460F5FF8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Online Experiment on Kuaishou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3717E-5FF3-2124-0736-2ED10D7D594E}"/>
              </a:ext>
            </a:extLst>
          </p:cNvPr>
          <p:cNvSpPr txBox="1"/>
          <p:nvPr/>
        </p:nvSpPr>
        <p:spPr>
          <a:xfrm>
            <a:off x="724656" y="1765430"/>
            <a:ext cx="1032505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Setting:</a:t>
            </a:r>
            <a:r>
              <a:rPr kumimoji="1" lang="en-US" altLang="zh-CN" sz="2400" dirty="0">
                <a:latin typeface="Helvetica" pitchFamily="2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Traffic: </a:t>
            </a:r>
            <a:r>
              <a:rPr kumimoji="1" lang="en-US" altLang="zh-CN" sz="2400" dirty="0">
                <a:latin typeface="Helvetica" pitchFamily="2" charset="0"/>
              </a:rPr>
              <a:t>1 week, 1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5 million users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</a:rPr>
              <a:t>Baseline: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the SOTA multi-task learning method on our platform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</a:rPr>
              <a:t>Evaluation: </a:t>
            </a: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the average time users spend watching videos (WT)</a:t>
            </a: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the number of effective video viewing records (VV)</a:t>
            </a: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the instances of video sharing (Share)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400" b="1" i="0" u="none" strike="noStrike" dirty="0">
                <a:effectLst/>
                <a:latin typeface="Arial" panose="020B0604020202020204" pitchFamily="34" charset="0"/>
              </a:rPr>
              <a:t>Result: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WT</a:t>
            </a:r>
            <a:r>
              <a:rPr lang="zh-CN" altLang="en-US" sz="24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+0.505%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, VV</a:t>
            </a:r>
            <a:r>
              <a:rPr lang="zh-CN" altLang="en-US" sz="24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+0.950%</a:t>
            </a:r>
            <a:r>
              <a:rPr lang="en-US" altLang="zh-CN" sz="240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en-US" altLang="zh-CN" sz="2400" b="0" i="0" u="none" strike="noStrike" dirty="0">
                <a:effectLst/>
                <a:latin typeface="Arial" panose="020B0604020202020204" pitchFamily="34" charset="0"/>
              </a:rPr>
              <a:t>Share</a:t>
            </a:r>
            <a:r>
              <a:rPr lang="zh-CN" altLang="en-US" sz="24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+1.746%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endParaRPr lang="en-US" altLang="zh-CN" sz="24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A4BA51-610D-FA7F-D07C-FE1BB1FEBC5A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12/15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940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Experiment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2DA175-69E7-B3E9-17C1-CED460F5FF8C}"/>
              </a:ext>
            </a:extLst>
          </p:cNvPr>
          <p:cNvSpPr txBox="1"/>
          <p:nvPr/>
        </p:nvSpPr>
        <p:spPr>
          <a:xfrm>
            <a:off x="285135" y="890767"/>
            <a:ext cx="9615949" cy="759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</a:t>
            </a:r>
            <a:r>
              <a:rPr lang="en-US" altLang="zh-CN" sz="3200" b="0" i="0" u="none" strike="noStrike" dirty="0">
                <a:effectLst/>
                <a:latin typeface="Helvetica" pitchFamily="2" charset="0"/>
              </a:rPr>
              <a:t>In-depth Analysis </a:t>
            </a:r>
            <a:endParaRPr kumimoji="1" lang="en-US" altLang="zh-CN" sz="3200" dirty="0">
              <a:latin typeface="Helvetica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3717E-5FF3-2124-0736-2ED10D7D594E}"/>
              </a:ext>
            </a:extLst>
          </p:cNvPr>
          <p:cNvSpPr txBox="1"/>
          <p:nvPr/>
        </p:nvSpPr>
        <p:spPr>
          <a:xfrm>
            <a:off x="724656" y="1765430"/>
            <a:ext cx="5162528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Ablation</a:t>
            </a:r>
            <a:r>
              <a:rPr kumimoji="1" lang="zh-CN" altLang="en-US" sz="2400" b="1" dirty="0">
                <a:latin typeface="Helvetica" pitchFamily="2" charset="0"/>
              </a:rPr>
              <a:t> </a:t>
            </a:r>
            <a:r>
              <a:rPr kumimoji="1" lang="en-US" altLang="zh-CN" sz="2400" b="1" dirty="0">
                <a:latin typeface="Helvetica" pitchFamily="2" charset="0"/>
              </a:rPr>
              <a:t>Study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E4CA63-01B6-C44C-571A-013FD1ED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930" y="4076924"/>
            <a:ext cx="4492439" cy="15795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7C697C-23F6-A256-2C71-9E0168826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314" y="2454235"/>
            <a:ext cx="4545477" cy="24124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8DA218-7257-AFC7-2246-2DC1E697B101}"/>
              </a:ext>
            </a:extLst>
          </p:cNvPr>
          <p:cNvSpPr txBox="1"/>
          <p:nvPr/>
        </p:nvSpPr>
        <p:spPr>
          <a:xfrm>
            <a:off x="6304816" y="1738863"/>
            <a:ext cx="5162528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Effect</a:t>
            </a:r>
            <a:r>
              <a:rPr kumimoji="1" lang="zh-CN" altLang="en-US" sz="2400" b="1" dirty="0">
                <a:latin typeface="Helvetica" pitchFamily="2" charset="0"/>
              </a:rPr>
              <a:t> </a:t>
            </a:r>
            <a:r>
              <a:rPr kumimoji="1" lang="en-US" altLang="zh-CN" sz="2400" b="1" dirty="0">
                <a:latin typeface="Helvetica" pitchFamily="2" charset="0"/>
              </a:rPr>
              <a:t>of</a:t>
            </a:r>
            <a:r>
              <a:rPr kumimoji="1" lang="zh-CN" altLang="en-US" sz="2400" b="1" dirty="0">
                <a:latin typeface="Helvetica" pitchFamily="2" charset="0"/>
              </a:rPr>
              <a:t> </a:t>
            </a:r>
            <a:r>
              <a:rPr kumimoji="1" lang="en-US" altLang="zh-CN" sz="2400" b="1" dirty="0">
                <a:latin typeface="Helvetica" pitchFamily="2" charset="0"/>
              </a:rPr>
              <a:t>Task</a:t>
            </a:r>
            <a:r>
              <a:rPr kumimoji="1" lang="zh-CN" altLang="en-US" sz="2400" b="1" dirty="0">
                <a:latin typeface="Helvetica" pitchFamily="2" charset="0"/>
              </a:rPr>
              <a:t> </a:t>
            </a:r>
            <a:r>
              <a:rPr kumimoji="1" lang="en-US" altLang="zh-CN" sz="2400" b="1" dirty="0">
                <a:latin typeface="Helvetica" pitchFamily="2" charset="0"/>
              </a:rPr>
              <a:t>Number</a:t>
            </a:r>
            <a:r>
              <a:rPr kumimoji="1" lang="zh-CN" altLang="en-US" sz="2400" b="1" dirty="0">
                <a:latin typeface="Helvetica" pitchFamily="2" charset="0"/>
              </a:rPr>
              <a:t> </a:t>
            </a:r>
            <a:r>
              <a:rPr kumimoji="1" lang="en-US" altLang="zh-CN" sz="2400" b="1" dirty="0">
                <a:latin typeface="Helvetica" pitchFamily="2" charset="0"/>
              </a:rPr>
              <a:t>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AC30291-F980-612A-4532-514F5FB72284}"/>
                  </a:ext>
                </a:extLst>
              </p:cNvPr>
              <p:cNvSpPr txBox="1"/>
              <p:nvPr/>
            </p:nvSpPr>
            <p:spPr>
              <a:xfrm>
                <a:off x="2008927" y="2433467"/>
                <a:ext cx="5409244" cy="1420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en-US" altLang="zh-CN" sz="2000" dirty="0">
                    <a:latin typeface="Arial" panose="020B0604020202020204" pitchFamily="34" charset="0"/>
                  </a:rPr>
                  <a:t>: control</a:t>
                </a:r>
                <a:r>
                  <a:rPr kumimoji="1" lang="zh-CN" altLang="en-US" sz="2000" dirty="0">
                    <a:latin typeface="Arial" panose="020B0604020202020204" pitchFamily="34" charset="0"/>
                  </a:rPr>
                  <a:t> </a:t>
                </a:r>
                <a:r>
                  <a:rPr kumimoji="1" lang="en-US" altLang="zh-CN" sz="2000" dirty="0">
                    <a:latin typeface="Arial" panose="020B0604020202020204" pitchFamily="34" charset="0"/>
                  </a:rPr>
                  <a:t>the proximity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1" lang="en-US" altLang="zh-CN" sz="2000" dirty="0">
                    <a:latin typeface="Arial" panose="020B0604020202020204" pitchFamily="34" charset="0"/>
                  </a:rPr>
                  <a:t>: </a:t>
                </a:r>
                <a:r>
                  <a:rPr kumimoji="1" lang="en-US" altLang="zh-CN" sz="2000" dirty="0">
                    <a:latin typeface="Helvetica" pitchFamily="2" charset="0"/>
                  </a:rPr>
                  <a:t>allow</a:t>
                </a:r>
                <a:r>
                  <a:rPr kumimoji="1" lang="zh-CN" altLang="en-US" sz="2000" dirty="0">
                    <a:latin typeface="Helvetica" pitchFamily="2" charset="0"/>
                  </a:rPr>
                  <a:t> </a:t>
                </a:r>
                <a:r>
                  <a:rPr kumimoji="1" lang="en-US" altLang="zh-CN" sz="2000" dirty="0">
                    <a:latin typeface="Helvetica" pitchFamily="2" charset="0"/>
                  </a:rPr>
                  <a:t>the</a:t>
                </a:r>
                <a:r>
                  <a:rPr kumimoji="1" lang="zh-CN" altLang="en-US" sz="2000" dirty="0">
                    <a:latin typeface="Helvetica" pitchFamily="2" charset="0"/>
                  </a:rPr>
                  <a:t> </a:t>
                </a:r>
                <a:r>
                  <a:rPr kumimoji="1" lang="en-US" altLang="zh-CN" sz="2000" dirty="0">
                    <a:latin typeface="Helvetica" pitchFamily="2" charset="0"/>
                  </a:rPr>
                  <a:t>positive</a:t>
                </a:r>
                <a:r>
                  <a:rPr kumimoji="1" lang="zh-CN" altLang="en-US" sz="2000" dirty="0">
                    <a:latin typeface="Helvetica" pitchFamily="2" charset="0"/>
                  </a:rPr>
                  <a:t> </a:t>
                </a:r>
                <a:r>
                  <a:rPr kumimoji="1" lang="en-US" altLang="zh-CN" sz="2000" dirty="0">
                    <a:latin typeface="Helvetica" pitchFamily="2" charset="0"/>
                  </a:rPr>
                  <a:t>inner</a:t>
                </a:r>
                <a:r>
                  <a:rPr kumimoji="1" lang="zh-CN" altLang="en-US" sz="2000" dirty="0">
                    <a:latin typeface="Helvetica" pitchFamily="2" charset="0"/>
                  </a:rPr>
                  <a:t> </a:t>
                </a:r>
                <a:r>
                  <a:rPr kumimoji="1" lang="en-US" altLang="zh-CN" sz="2000" dirty="0">
                    <a:latin typeface="Helvetica" pitchFamily="2" charset="0"/>
                  </a:rPr>
                  <a:t>product</a:t>
                </a:r>
                <a:endParaRPr kumimoji="1" lang="en-US" altLang="zh-CN" sz="2000" dirty="0">
                  <a:latin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US" altLang="zh-CN" sz="2000" dirty="0">
                    <a:latin typeface="Arial" panose="020B0604020202020204" pitchFamily="34" charset="0"/>
                  </a:rPr>
                  <a:t>Projection: global (one vs all)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AC30291-F980-612A-4532-514F5FB72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927" y="2433467"/>
                <a:ext cx="5409244" cy="1420261"/>
              </a:xfrm>
              <a:prstGeom prst="rect">
                <a:avLst/>
              </a:prstGeom>
              <a:blipFill>
                <a:blip r:embed="rId5"/>
                <a:stretch>
                  <a:fillRect l="-937" b="-7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3208B34-4E42-42D7-DEB8-89D01CFD7853}"/>
                  </a:ext>
                </a:extLst>
              </p:cNvPr>
              <p:cNvSpPr txBox="1"/>
              <p:nvPr/>
            </p:nvSpPr>
            <p:spPr>
              <a:xfrm>
                <a:off x="664557" y="4517673"/>
                <a:ext cx="9029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kumimoji="1" lang="en-US" altLang="zh-CN" sz="16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1600" b="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3208B34-4E42-42D7-DEB8-89D01CFD7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57" y="4517673"/>
                <a:ext cx="90297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639501-8F86-4AEB-B100-34C10599DCBB}"/>
                  </a:ext>
                </a:extLst>
              </p:cNvPr>
              <p:cNvSpPr txBox="1"/>
              <p:nvPr/>
            </p:nvSpPr>
            <p:spPr>
              <a:xfrm>
                <a:off x="670368" y="4749058"/>
                <a:ext cx="9029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kumimoji="1" lang="en-US" altLang="zh-CN" sz="16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en-US" altLang="zh-CN" sz="1600" b="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639501-8F86-4AEB-B100-34C10599D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68" y="4749058"/>
                <a:ext cx="90297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22EAEB-26A8-45D4-751D-6AD6C68F3934}"/>
                  </a:ext>
                </a:extLst>
              </p:cNvPr>
              <p:cNvSpPr txBox="1"/>
              <p:nvPr/>
            </p:nvSpPr>
            <p:spPr>
              <a:xfrm>
                <a:off x="670368" y="4971702"/>
                <a:ext cx="9029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kumimoji="1" lang="en-US" altLang="zh-CN" sz="16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1600" b="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22EAEB-26A8-45D4-751D-6AD6C68F3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68" y="4971702"/>
                <a:ext cx="90297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2FEFA93A-631B-F7DC-15B5-7AC0FC0A9BD4}"/>
              </a:ext>
            </a:extLst>
          </p:cNvPr>
          <p:cNvSpPr txBox="1"/>
          <p:nvPr/>
        </p:nvSpPr>
        <p:spPr>
          <a:xfrm>
            <a:off x="761453" y="5203087"/>
            <a:ext cx="1447453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b="0" dirty="0">
                <a:latin typeface="Arial" panose="020B0604020202020204" pitchFamily="34" charset="0"/>
              </a:rPr>
              <a:t>one vs </a:t>
            </a:r>
            <a:r>
              <a:rPr kumimoji="1" lang="en-US" altLang="zh-CN" sz="1600" dirty="0">
                <a:latin typeface="Arial" panose="020B0604020202020204" pitchFamily="34" charset="0"/>
              </a:rPr>
              <a:t>one</a:t>
            </a:r>
            <a:endParaRPr kumimoji="1" lang="en-US" altLang="zh-CN" sz="1600" b="0" dirty="0">
              <a:latin typeface="Arial" panose="020B0604020202020204" pitchFamily="34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92F419C-745D-7A9B-9C17-480FDBE52884}"/>
              </a:ext>
            </a:extLst>
          </p:cNvPr>
          <p:cNvCxnSpPr>
            <a:cxnSpLocks/>
          </p:cNvCxnSpPr>
          <p:nvPr/>
        </p:nvCxnSpPr>
        <p:spPr>
          <a:xfrm flipH="1">
            <a:off x="1860368" y="4748505"/>
            <a:ext cx="297123" cy="0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0EB31F22-0B0A-30C4-34AE-A96273EFA029}"/>
              </a:ext>
            </a:extLst>
          </p:cNvPr>
          <p:cNvCxnSpPr>
            <a:cxnSpLocks/>
          </p:cNvCxnSpPr>
          <p:nvPr/>
        </p:nvCxnSpPr>
        <p:spPr>
          <a:xfrm flipH="1">
            <a:off x="1860367" y="4971702"/>
            <a:ext cx="297123" cy="0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75863159-C407-475E-3E85-AEF662DB4986}"/>
              </a:ext>
            </a:extLst>
          </p:cNvPr>
          <p:cNvCxnSpPr>
            <a:cxnSpLocks/>
          </p:cNvCxnSpPr>
          <p:nvPr/>
        </p:nvCxnSpPr>
        <p:spPr>
          <a:xfrm flipH="1">
            <a:off x="1860366" y="5202534"/>
            <a:ext cx="297123" cy="0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C54B377-539F-0887-343B-C743B79F305B}"/>
              </a:ext>
            </a:extLst>
          </p:cNvPr>
          <p:cNvCxnSpPr>
            <a:cxnSpLocks/>
          </p:cNvCxnSpPr>
          <p:nvPr/>
        </p:nvCxnSpPr>
        <p:spPr>
          <a:xfrm flipH="1">
            <a:off x="1864062" y="5447180"/>
            <a:ext cx="297123" cy="0"/>
          </a:xfrm>
          <a:prstGeom prst="straightConnector1">
            <a:avLst/>
          </a:prstGeom>
          <a:ln w="12700" cmpd="dbl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18B0238-6B2A-D99A-D20C-C9B01A258FC9}"/>
              </a:ext>
            </a:extLst>
          </p:cNvPr>
          <p:cNvSpPr txBox="1"/>
          <p:nvPr/>
        </p:nvSpPr>
        <p:spPr>
          <a:xfrm>
            <a:off x="6819990" y="5012724"/>
            <a:ext cx="4356124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 err="1">
                <a:latin typeface="Helvetica" pitchFamily="2" charset="0"/>
              </a:rPr>
              <a:t>GradCraft</a:t>
            </a:r>
            <a:r>
              <a:rPr lang="en-US" altLang="zh-CN" dirty="0">
                <a:latin typeface="Helvetica" pitchFamily="2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Helvetica" pitchFamily="2" charset="0"/>
              </a:rPr>
              <a:t>scales up </a:t>
            </a:r>
            <a:r>
              <a:rPr lang="en-US" altLang="zh-CN" dirty="0">
                <a:latin typeface="Helvetica" pitchFamily="2" charset="0"/>
              </a:rPr>
              <a:t>effectively with the increasing complexity introduced by a growing number of tasks.</a:t>
            </a:r>
            <a:endParaRPr kumimoji="1" lang="en-US" altLang="zh-CN" sz="2000" dirty="0">
              <a:latin typeface="Helvetica" pitchFamily="2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D26002C-84AD-CCFB-8B04-AB043D635B9E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13/15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2122FC-1549-9D7B-EE21-135AB609F2C7}"/>
              </a:ext>
            </a:extLst>
          </p:cNvPr>
          <p:cNvSpPr txBox="1"/>
          <p:nvPr/>
        </p:nvSpPr>
        <p:spPr>
          <a:xfrm>
            <a:off x="664557" y="2448602"/>
            <a:ext cx="1344370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Arial" panose="020B0604020202020204" pitchFamily="34" charset="0"/>
              </a:rPr>
              <a:t>Magnitude: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5436D1-D410-01F0-F5CE-4A12CFEE91CA}"/>
              </a:ext>
            </a:extLst>
          </p:cNvPr>
          <p:cNvSpPr txBox="1"/>
          <p:nvPr/>
        </p:nvSpPr>
        <p:spPr>
          <a:xfrm>
            <a:off x="664557" y="3131549"/>
            <a:ext cx="1344370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0" dirty="0">
                <a:latin typeface="Arial" panose="020B0604020202020204" pitchFamily="34" charset="0"/>
              </a:rPr>
              <a:t>Direction: </a:t>
            </a: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438279D9-20BF-EDA4-A822-804E2DA5EE08}"/>
              </a:ext>
            </a:extLst>
          </p:cNvPr>
          <p:cNvCxnSpPr/>
          <p:nvPr/>
        </p:nvCxnSpPr>
        <p:spPr>
          <a:xfrm flipV="1">
            <a:off x="761453" y="2975544"/>
            <a:ext cx="5441639" cy="19976"/>
          </a:xfrm>
          <a:prstGeom prst="line">
            <a:avLst/>
          </a:prstGeom>
          <a:ln w="2222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13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0" y="18288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b="1" dirty="0">
                <a:latin typeface="Helvetica" pitchFamily="2" charset="0"/>
              </a:rPr>
              <a:t>  </a:t>
            </a:r>
            <a:r>
              <a:rPr kumimoji="1" lang="en-US" altLang="zh-CN" sz="4000" b="1" dirty="0">
                <a:latin typeface="Helvetica" pitchFamily="2" charset="0"/>
              </a:rPr>
              <a:t>Conclusion</a:t>
            </a:r>
            <a:endParaRPr kumimoji="1" lang="zh-CN" altLang="en-US" sz="4000" b="1" dirty="0">
              <a:latin typeface="Helvetica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9CC52A-10C5-A7A5-619B-B2FB1F979204}"/>
              </a:ext>
            </a:extLst>
          </p:cNvPr>
          <p:cNvSpPr txBox="1"/>
          <p:nvPr/>
        </p:nvSpPr>
        <p:spPr>
          <a:xfrm>
            <a:off x="285135" y="890767"/>
            <a:ext cx="11114955" cy="755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3200" dirty="0">
                <a:latin typeface="Helvetica" pitchFamily="2" charset="0"/>
              </a:rPr>
              <a:t> M</a:t>
            </a:r>
            <a:r>
              <a:rPr lang="en-US" altLang="zh-CN" sz="3200" b="0" i="0" u="none" strike="noStrike" dirty="0">
                <a:effectLst/>
                <a:latin typeface="Helvetica" pitchFamily="2" charset="0"/>
              </a:rPr>
              <a:t>ulti-task </a:t>
            </a:r>
            <a:r>
              <a:rPr lang="en-US" altLang="zh-CN" sz="3200" dirty="0">
                <a:latin typeface="Helvetica" pitchFamily="2" charset="0"/>
              </a:rPr>
              <a:t>L</a:t>
            </a:r>
            <a:r>
              <a:rPr lang="en-US" altLang="zh-CN" sz="3200" b="0" i="0" u="none" strike="noStrike" dirty="0">
                <a:effectLst/>
                <a:latin typeface="Helvetica" pitchFamily="2" charset="0"/>
              </a:rPr>
              <a:t>earning in </a:t>
            </a:r>
            <a:r>
              <a:rPr lang="en-US" altLang="zh-CN" sz="3200" b="0" i="0" u="none" strike="noStrike" dirty="0" err="1">
                <a:effectLst/>
                <a:latin typeface="Helvetica" pitchFamily="2" charset="0"/>
              </a:rPr>
              <a:t>RecSys</a:t>
            </a:r>
            <a:endParaRPr lang="en-US" altLang="zh-CN" sz="3200" b="0" i="0" u="none" strike="noStrike" dirty="0">
              <a:effectLst/>
              <a:latin typeface="Helvetica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3C0170-6BFE-B5B0-C392-57FA5B05BFC2}"/>
              </a:ext>
            </a:extLst>
          </p:cNvPr>
          <p:cNvSpPr txBox="1"/>
          <p:nvPr/>
        </p:nvSpPr>
        <p:spPr>
          <a:xfrm>
            <a:off x="724656" y="1765430"/>
            <a:ext cx="10675434" cy="4470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Challenge</a:t>
            </a:r>
            <a:r>
              <a:rPr kumimoji="1" lang="en-US" altLang="zh-CN" sz="2400" dirty="0">
                <a:latin typeface="Helvetica" pitchFamily="2" charset="0"/>
              </a:rPr>
              <a:t>: task heterogeneity and cardinality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Motivation</a:t>
            </a:r>
            <a:r>
              <a:rPr kumimoji="1" lang="en-US" altLang="zh-CN" sz="2400" dirty="0">
                <a:latin typeface="Helvetica" pitchFamily="2" charset="0"/>
              </a:rPr>
              <a:t>: </a:t>
            </a:r>
            <a:r>
              <a:rPr lang="en-US" altLang="zh-CN" sz="2400" b="0" i="0" u="none" strike="noStrike" dirty="0">
                <a:effectLst/>
                <a:latin typeface="Helvetica" pitchFamily="2" charset="0"/>
              </a:rPr>
              <a:t>appropriate magnitude balance and global direction balance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Methodology</a:t>
            </a:r>
            <a:r>
              <a:rPr kumimoji="1" lang="en-US" altLang="zh-CN" sz="2400" dirty="0">
                <a:latin typeface="Helvetica" pitchFamily="2" charset="0"/>
              </a:rPr>
              <a:t>: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dirty="0">
                <a:latin typeface="Helvetica" pitchFamily="2" charset="0"/>
              </a:rPr>
              <a:t>Gradient magnitude adjustment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dirty="0">
                <a:latin typeface="Helvetica" pitchFamily="2" charset="0"/>
              </a:rPr>
              <a:t>Gradient direction deconfliction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Offline</a:t>
            </a:r>
            <a:r>
              <a:rPr kumimoji="1" lang="en-US" altLang="zh-CN" sz="2400" dirty="0">
                <a:latin typeface="Helvetica" pitchFamily="2" charset="0"/>
              </a:rPr>
              <a:t> experiment on </a:t>
            </a:r>
            <a:r>
              <a:rPr lang="en-US" altLang="zh-CN" sz="2400" b="0" i="0" u="none" strike="noStrike" dirty="0">
                <a:effectLst/>
                <a:latin typeface="Helvetica" pitchFamily="2" charset="0"/>
              </a:rPr>
              <a:t>real-world datasets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Online</a:t>
            </a:r>
            <a:r>
              <a:rPr kumimoji="1" lang="en-US" altLang="zh-CN" sz="2400" dirty="0">
                <a:latin typeface="Helvetica" pitchFamily="2" charset="0"/>
              </a:rPr>
              <a:t> experiments on Kuaishou platform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kumimoji="1" lang="en-US" altLang="zh-CN" sz="2400" b="1" dirty="0">
                <a:latin typeface="Helvetica" pitchFamily="2" charset="0"/>
              </a:rPr>
              <a:t>Future work</a:t>
            </a:r>
            <a:r>
              <a:rPr kumimoji="1" lang="en-US" altLang="zh-CN" sz="2400" dirty="0">
                <a:latin typeface="Helvetica" pitchFamily="2" charset="0"/>
              </a:rPr>
              <a:t>: apply</a:t>
            </a:r>
            <a:r>
              <a:rPr kumimoji="1" lang="zh-CN" altLang="en-US" sz="2400" dirty="0">
                <a:latin typeface="Helvetica" pitchFamily="2" charset="0"/>
              </a:rPr>
              <a:t> </a:t>
            </a:r>
            <a:r>
              <a:rPr kumimoji="1" lang="en-US" altLang="zh-CN" sz="2400" dirty="0">
                <a:latin typeface="Helvetica" pitchFamily="2" charset="0"/>
              </a:rPr>
              <a:t>to</a:t>
            </a:r>
            <a:r>
              <a:rPr kumimoji="1" lang="zh-CN" altLang="en-US" sz="2400" dirty="0">
                <a:latin typeface="Helvetica" pitchFamily="2" charset="0"/>
              </a:rPr>
              <a:t> </a:t>
            </a:r>
            <a:r>
              <a:rPr lang="en-US" altLang="zh-CN" sz="2400" b="0" i="0" u="none" strike="noStrike" dirty="0">
                <a:effectLst/>
                <a:latin typeface="Helvetica" pitchFamily="2" charset="0"/>
              </a:rPr>
              <a:t>other domains</a:t>
            </a:r>
            <a:r>
              <a:rPr lang="zh-CN" altLang="en-US" sz="2400" dirty="0">
                <a:latin typeface="Helvetica" pitchFamily="2" charset="0"/>
              </a:rPr>
              <a:t> </a:t>
            </a:r>
            <a:r>
              <a:rPr lang="en-US" altLang="zh-CN" sz="2400" dirty="0">
                <a:latin typeface="Helvetica" pitchFamily="2" charset="0"/>
              </a:rPr>
              <a:t>and</a:t>
            </a:r>
            <a:r>
              <a:rPr lang="zh-CN" altLang="en-US" sz="2400" dirty="0">
                <a:latin typeface="Helvetica" pitchFamily="2" charset="0"/>
              </a:rPr>
              <a:t> </a:t>
            </a:r>
            <a:r>
              <a:rPr lang="en-US" altLang="zh-CN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improve the</a:t>
            </a:r>
            <a:r>
              <a:rPr lang="zh-CN" alt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altLang="zh-CN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efficiency</a:t>
            </a:r>
            <a:endParaRPr kumimoji="1" lang="en-US" altLang="zh-CN" sz="2400" dirty="0">
              <a:latin typeface="Helvetica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4591FC-8FEA-189C-BCBB-956C8CC3F12A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14/15</a:t>
            </a:r>
            <a:endParaRPr kumimoji="1" lang="zh-CN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842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3700DF-3D99-5BFF-AD64-B750015E593B}"/>
              </a:ext>
            </a:extLst>
          </p:cNvPr>
          <p:cNvSpPr txBox="1"/>
          <p:nvPr/>
        </p:nvSpPr>
        <p:spPr>
          <a:xfrm>
            <a:off x="-1" y="1976215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800" b="1" dirty="0">
                <a:latin typeface="Helvetica" pitchFamily="2" charset="0"/>
              </a:rPr>
              <a:t>Thanks</a:t>
            </a:r>
            <a:endParaRPr kumimoji="1" lang="zh-CN" altLang="en-US" sz="8800" b="1" dirty="0">
              <a:latin typeface="Helvetica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4591FC-8FEA-189C-BCBB-956C8CC3F12A}"/>
              </a:ext>
            </a:extLst>
          </p:cNvPr>
          <p:cNvSpPr txBox="1"/>
          <p:nvPr/>
        </p:nvSpPr>
        <p:spPr>
          <a:xfrm>
            <a:off x="11203535" y="6305787"/>
            <a:ext cx="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lvetica" pitchFamily="2" charset="0"/>
              </a:rPr>
              <a:t>15/15</a:t>
            </a:r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725524-E033-65F4-73B7-FB1CCB5BE0C2}"/>
              </a:ext>
            </a:extLst>
          </p:cNvPr>
          <p:cNvSpPr txBox="1"/>
          <p:nvPr/>
        </p:nvSpPr>
        <p:spPr>
          <a:xfrm>
            <a:off x="0" y="497843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Helvetica" pitchFamily="2" charset="0"/>
              </a:rPr>
              <a:t>The code has been released at</a:t>
            </a:r>
          </a:p>
          <a:p>
            <a:pPr algn="ctr"/>
            <a:r>
              <a:rPr kumimoji="1" lang="en-US" altLang="zh-CN" sz="2000" dirty="0">
                <a:latin typeface="Helvetica" pitchFamily="2" charset="0"/>
                <a:hlinkClick r:id="rId3"/>
              </a:rPr>
              <a:t>https://github.com/baiyimeng/GradCraft</a:t>
            </a:r>
            <a:endParaRPr kumimoji="1" lang="en-US" altLang="zh-CN" sz="2000" dirty="0">
              <a:latin typeface="Helvetica" pitchFamily="2" charset="0"/>
            </a:endParaRPr>
          </a:p>
          <a:p>
            <a:pPr algn="ctr"/>
            <a:endParaRPr kumimoji="1" lang="zh-CN" altLang="en-US" sz="2000" dirty="0">
              <a:latin typeface="Helvetica" pitchFamily="2" charset="0"/>
            </a:endParaRPr>
          </a:p>
        </p:txBody>
      </p:sp>
      <p:pic>
        <p:nvPicPr>
          <p:cNvPr id="8" name="Picture 2" descr="生成的二维码">
            <a:extLst>
              <a:ext uri="{FF2B5EF4-FFF2-40B4-BE49-F238E27FC236}">
                <a16:creationId xmlns:a16="http://schemas.microsoft.com/office/drawing/2014/main" id="{A4CF7596-39D0-3122-4C5A-E21EEBC33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128" y="3422765"/>
            <a:ext cx="1519742" cy="151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629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2225">
          <a:solidFill>
            <a:schemeClr val="accent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4108</TotalTime>
  <Words>1880</Words>
  <Application>Microsoft Macintosh PowerPoint</Application>
  <PresentationFormat>宽屏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-apple-system</vt:lpstr>
      <vt:lpstr>-webkit-standard</vt:lpstr>
      <vt:lpstr>等线</vt:lpstr>
      <vt:lpstr>等线 Light</vt:lpstr>
      <vt:lpstr>Arial</vt:lpstr>
      <vt:lpstr>Cambria Math</vt:lpstr>
      <vt:lpstr>Helvetica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移梦 白</dc:creator>
  <cp:lastModifiedBy>移梦 白</cp:lastModifiedBy>
  <cp:revision>225</cp:revision>
  <dcterms:created xsi:type="dcterms:W3CDTF">2024-06-21T09:19:23Z</dcterms:created>
  <dcterms:modified xsi:type="dcterms:W3CDTF">2024-08-27T14:28:10Z</dcterms:modified>
</cp:coreProperties>
</file>